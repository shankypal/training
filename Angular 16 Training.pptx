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9" r:id="rId4"/>
  </p:sldMasterIdLst>
  <p:notesMasterIdLst>
    <p:notesMasterId r:id="rId36"/>
  </p:notesMasterIdLst>
  <p:handoutMasterIdLst>
    <p:handoutMasterId r:id="rId37"/>
  </p:handoutMasterIdLst>
  <p:sldIdLst>
    <p:sldId id="256" r:id="rId5"/>
    <p:sldId id="258" r:id="rId6"/>
    <p:sldId id="264" r:id="rId7"/>
    <p:sldId id="266" r:id="rId8"/>
    <p:sldId id="267" r:id="rId9"/>
    <p:sldId id="268" r:id="rId10"/>
    <p:sldId id="265" r:id="rId11"/>
    <p:sldId id="269" r:id="rId12"/>
    <p:sldId id="270" r:id="rId13"/>
    <p:sldId id="271" r:id="rId14"/>
    <p:sldId id="272" r:id="rId15"/>
    <p:sldId id="273" r:id="rId16"/>
    <p:sldId id="275" r:id="rId17"/>
    <p:sldId id="276" r:id="rId18"/>
    <p:sldId id="277" r:id="rId19"/>
    <p:sldId id="278" r:id="rId20"/>
    <p:sldId id="279" r:id="rId21"/>
    <p:sldId id="280" r:id="rId22"/>
    <p:sldId id="281" r:id="rId23"/>
    <p:sldId id="292" r:id="rId24"/>
    <p:sldId id="282" r:id="rId25"/>
    <p:sldId id="283" r:id="rId26"/>
    <p:sldId id="284" r:id="rId27"/>
    <p:sldId id="285" r:id="rId28"/>
    <p:sldId id="286" r:id="rId29"/>
    <p:sldId id="287" r:id="rId30"/>
    <p:sldId id="288" r:id="rId31"/>
    <p:sldId id="289" r:id="rId32"/>
    <p:sldId id="290" r:id="rId33"/>
    <p:sldId id="291" r:id="rId34"/>
    <p:sldId id="26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90" d="100"/>
          <a:sy n="90" d="100"/>
        </p:scale>
        <p:origin x="1332" y="6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8/21/2025</a:t>
            </a:fld>
            <a:endParaRPr lang="en-US" dirty="0"/>
          </a:p>
        </p:txBody>
      </p:sp>
      <p:sp>
        <p:nvSpPr>
          <p:cNvPr id="4" name="Footer Placeholder 3">
            <a:extLst>
              <a:ext uri="{FF2B5EF4-FFF2-40B4-BE49-F238E27FC236}">
                <a16:creationId xmlns:a16="http://schemas.microsoft.com/office/drawing/2014/main" xmlns=""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8/21/2025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8/21/2025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8/21/2025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8/21/2025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raw.githubusercontent.com/Homebrew/install/HEAD/install.sh"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68D3E5-C7A3-47DF-A374-46BF83A69904}"/>
              </a:ext>
            </a:extLst>
          </p:cNvPr>
          <p:cNvSpPr>
            <a:spLocks noGrp="1"/>
          </p:cNvSpPr>
          <p:nvPr>
            <p:ph type="ctrTitle"/>
          </p:nvPr>
        </p:nvSpPr>
        <p:spPr/>
        <p:txBody>
          <a:bodyPr>
            <a:normAutofit/>
          </a:bodyPr>
          <a:lstStyle/>
          <a:p>
            <a:pPr algn="ctr"/>
            <a:r>
              <a:rPr lang="en-US" sz="5400" dirty="0">
                <a:latin typeface="Rockwell" panose="02060603020205020403" pitchFamily="18" charset="0"/>
              </a:rPr>
              <a:t>Angular 16 Training</a:t>
            </a:r>
          </a:p>
        </p:txBody>
      </p:sp>
      <p:sp>
        <p:nvSpPr>
          <p:cNvPr id="3" name="Subtitle 2">
            <a:extLst>
              <a:ext uri="{FF2B5EF4-FFF2-40B4-BE49-F238E27FC236}">
                <a16:creationId xmlns:a16="http://schemas.microsoft.com/office/drawing/2014/main" xmlns="" id="{2E78725B-6E40-4D82-B375-7831D81C29EE}"/>
              </a:ext>
            </a:extLst>
          </p:cNvPr>
          <p:cNvSpPr>
            <a:spLocks noGrp="1"/>
          </p:cNvSpPr>
          <p:nvPr>
            <p:ph type="subTitle" idx="1"/>
          </p:nvPr>
        </p:nvSpPr>
        <p:spPr/>
        <p:txBody>
          <a:bodyPr>
            <a:normAutofit/>
          </a:bodyPr>
          <a:lstStyle/>
          <a:p>
            <a:pPr algn="ctr"/>
            <a:r>
              <a:rPr lang="en-US" sz="2400" dirty="0">
                <a:latin typeface="Tahoma" panose="020B0604030504040204" pitchFamily="34" charset="0"/>
                <a:ea typeface="Tahoma" panose="020B0604030504040204" pitchFamily="34" charset="0"/>
                <a:cs typeface="Tahoma" panose="020B0604030504040204" pitchFamily="34" charset="0"/>
              </a:rPr>
              <a:t>Complete Guide to Building Web Applications with Angular</a:t>
            </a:r>
          </a:p>
        </p:txBody>
      </p:sp>
    </p:spTree>
    <p:extLst>
      <p:ext uri="{BB962C8B-B14F-4D97-AF65-F5344CB8AC3E}">
        <p14:creationId xmlns:p14="http://schemas.microsoft.com/office/powerpoint/2010/main" val="18193592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What is Angular?</a:t>
            </a: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p:txBody>
          <a:bodyPr>
            <a:normAutofit fontScale="92500" lnSpcReduction="20000"/>
          </a:bodyPr>
          <a:lstStyle/>
          <a:p>
            <a:pPr marL="0" indent="0">
              <a:buNone/>
            </a:pPr>
            <a:r>
              <a:rPr lang="en-US" dirty="0">
                <a:ea typeface="Tahoma" panose="020B0604030504040204" pitchFamily="34" charset="0"/>
                <a:cs typeface="Tahoma" panose="020B0604030504040204" pitchFamily="34" charset="0"/>
              </a:rPr>
              <a:t>Angular is a platform and framework for building single-page web applications (SPAs). It’s a </a:t>
            </a:r>
            <a:r>
              <a:rPr lang="en-US" dirty="0" err="1">
                <a:ea typeface="Tahoma" panose="020B0604030504040204" pitchFamily="34" charset="0"/>
                <a:cs typeface="Tahoma" panose="020B0604030504040204" pitchFamily="34" charset="0"/>
              </a:rPr>
              <a:t>TypeScript</a:t>
            </a:r>
            <a:r>
              <a:rPr lang="en-US" dirty="0">
                <a:ea typeface="Tahoma" panose="020B0604030504040204" pitchFamily="34" charset="0"/>
                <a:cs typeface="Tahoma" panose="020B0604030504040204" pitchFamily="34" charset="0"/>
              </a:rPr>
              <a:t>-based framework developed and maintained by Google. Angular allows developers to create dynamic, high-performance web apps by providing a structured approach to development</a:t>
            </a:r>
            <a:r>
              <a:rPr lang="en-US" dirty="0" smtClean="0">
                <a:ea typeface="Tahoma" panose="020B0604030504040204" pitchFamily="34" charset="0"/>
                <a:cs typeface="Tahoma" panose="020B0604030504040204" pitchFamily="34" charset="0"/>
              </a:rPr>
              <a:t>.</a:t>
            </a:r>
          </a:p>
          <a:p>
            <a:pPr marL="0" indent="0">
              <a:buNone/>
            </a:pPr>
            <a:r>
              <a:rPr lang="en-US" dirty="0">
                <a:ea typeface="Tahoma" panose="020B0604030504040204" pitchFamily="34" charset="0"/>
                <a:cs typeface="Tahoma" panose="020B0604030504040204" pitchFamily="34" charset="0"/>
              </a:rPr>
              <a:t>Advantages: </a:t>
            </a:r>
          </a:p>
          <a:p>
            <a:pPr lvl="2"/>
            <a:r>
              <a:rPr lang="en-US" dirty="0"/>
              <a:t>High performance (SPA)</a:t>
            </a:r>
          </a:p>
          <a:p>
            <a:pPr lvl="2"/>
            <a:r>
              <a:rPr lang="en-US" dirty="0"/>
              <a:t>Scalability</a:t>
            </a:r>
          </a:p>
          <a:p>
            <a:pPr lvl="2"/>
            <a:r>
              <a:rPr lang="en-US" dirty="0"/>
              <a:t>Reusable components</a:t>
            </a:r>
          </a:p>
          <a:p>
            <a:pPr lvl="2"/>
            <a:r>
              <a:rPr lang="en-US" dirty="0"/>
              <a:t>Active community support</a:t>
            </a:r>
          </a:p>
          <a:p>
            <a:pPr lvl="2"/>
            <a:r>
              <a:rPr lang="en-US" dirty="0"/>
              <a:t>Huge ecosystem with libraries, tools, and plugins</a:t>
            </a:r>
          </a:p>
          <a:p>
            <a:pPr lvl="1"/>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721794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smtClean="0">
                <a:latin typeface="Rockwell" panose="02060603020205020403" pitchFamily="18" charset="0"/>
              </a:rPr>
              <a:t>Angular Application setup</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p:txBody>
          <a:bodyPr>
            <a:normAutofit fontScale="77500" lnSpcReduction="20000"/>
          </a:bodyPr>
          <a:lstStyle/>
          <a:p>
            <a:pPr marL="0" indent="0">
              <a:buNone/>
            </a:pPr>
            <a:r>
              <a:rPr lang="en-US" dirty="0">
                <a:ea typeface="Tahoma" panose="020B0604030504040204" pitchFamily="34" charset="0"/>
                <a:cs typeface="Tahoma" panose="020B0604030504040204" pitchFamily="34" charset="0"/>
              </a:rPr>
              <a:t>Install Node.js (Required for Angular</a:t>
            </a:r>
            <a:r>
              <a:rPr lang="en-US" dirty="0" smtClean="0">
                <a:ea typeface="Tahoma" panose="020B0604030504040204" pitchFamily="34" charset="0"/>
                <a:cs typeface="Tahoma" panose="020B0604030504040204" pitchFamily="34" charset="0"/>
              </a:rPr>
              <a:t>) for Windows.</a:t>
            </a:r>
          </a:p>
          <a:p>
            <a:pPr marL="457200" indent="-457200">
              <a:buFont typeface="+mj-lt"/>
              <a:buAutoNum type="arabicPeriod"/>
            </a:pPr>
            <a:r>
              <a:rPr lang="en-US" dirty="0"/>
              <a:t>Download Node.js</a:t>
            </a:r>
            <a:r>
              <a:rPr lang="en-US" dirty="0" smtClean="0">
                <a:ea typeface="Tahoma" panose="020B0604030504040204" pitchFamily="34" charset="0"/>
                <a:cs typeface="Tahoma" panose="020B0604030504040204" pitchFamily="34" charset="0"/>
              </a:rPr>
              <a:t> </a:t>
            </a:r>
            <a:endParaRPr lang="en-US" dirty="0">
              <a:ea typeface="Tahoma" panose="020B0604030504040204" pitchFamily="34" charset="0"/>
              <a:cs typeface="Tahoma" panose="020B0604030504040204" pitchFamily="34" charset="0"/>
            </a:endParaRPr>
          </a:p>
          <a:p>
            <a:pPr lvl="1"/>
            <a:r>
              <a:rPr lang="en-US" dirty="0"/>
              <a:t>Go to the official Node.js website: </a:t>
            </a:r>
            <a:r>
              <a:rPr lang="en-US" dirty="0">
                <a:solidFill>
                  <a:srgbClr val="FFC000"/>
                </a:solidFill>
              </a:rPr>
              <a:t>https://nodejs.org/</a:t>
            </a:r>
          </a:p>
          <a:p>
            <a:pPr lvl="1"/>
            <a:r>
              <a:rPr lang="en-US" dirty="0"/>
              <a:t>Angular 16 requires Node.js 18.x or later. Download the LTS (Long Term Support) version or the latest stable version (18.x or above</a:t>
            </a:r>
            <a:r>
              <a:rPr lang="en-US" dirty="0" smtClean="0"/>
              <a:t>).</a:t>
            </a:r>
          </a:p>
          <a:p>
            <a:pPr marL="457200" indent="-457200">
              <a:buFont typeface="+mj-lt"/>
              <a:buAutoNum type="arabicPeriod"/>
            </a:pPr>
            <a:r>
              <a:rPr lang="en-US" dirty="0" smtClean="0">
                <a:ea typeface="Tahoma" panose="020B0604030504040204" pitchFamily="34" charset="0"/>
                <a:cs typeface="Tahoma" panose="020B0604030504040204" pitchFamily="34" charset="0"/>
              </a:rPr>
              <a:t>Install</a:t>
            </a:r>
            <a:r>
              <a:rPr lang="en-US" sz="2800" dirty="0" smtClean="0"/>
              <a:t> Node.js</a:t>
            </a:r>
          </a:p>
          <a:p>
            <a:pPr lvl="1"/>
            <a:r>
              <a:rPr lang="en-US" dirty="0"/>
              <a:t>Run the downloaded .</a:t>
            </a:r>
            <a:r>
              <a:rPr lang="en-US" dirty="0" err="1"/>
              <a:t>msi</a:t>
            </a:r>
            <a:r>
              <a:rPr lang="en-US" dirty="0"/>
              <a:t> installer</a:t>
            </a:r>
            <a:r>
              <a:rPr lang="en-US" dirty="0" smtClean="0"/>
              <a:t>.</a:t>
            </a:r>
          </a:p>
          <a:p>
            <a:pPr marL="457200" indent="-457200">
              <a:buFont typeface="+mj-lt"/>
              <a:buAutoNum type="arabicPeriod"/>
            </a:pPr>
            <a:r>
              <a:rPr lang="en-US" dirty="0">
                <a:ea typeface="Tahoma" panose="020B0604030504040204" pitchFamily="34" charset="0"/>
                <a:cs typeface="Tahoma" panose="020B0604030504040204" pitchFamily="34" charset="0"/>
              </a:rPr>
              <a:t>Verify Node.js </a:t>
            </a:r>
            <a:r>
              <a:rPr lang="en-US" dirty="0" smtClean="0">
                <a:ea typeface="Tahoma" panose="020B0604030504040204" pitchFamily="34" charset="0"/>
                <a:cs typeface="Tahoma" panose="020B0604030504040204" pitchFamily="34" charset="0"/>
              </a:rPr>
              <a:t>installation</a:t>
            </a:r>
          </a:p>
          <a:p>
            <a:pPr lvl="1"/>
            <a:r>
              <a:rPr lang="en-US" sz="2100" dirty="0">
                <a:solidFill>
                  <a:srgbClr val="FFC000"/>
                </a:solidFill>
              </a:rPr>
              <a:t>node -v</a:t>
            </a:r>
          </a:p>
          <a:p>
            <a:pPr lvl="1"/>
            <a:r>
              <a:rPr lang="en-US" sz="2100" dirty="0" err="1">
                <a:solidFill>
                  <a:srgbClr val="FFC000"/>
                </a:solidFill>
              </a:rPr>
              <a:t>npm</a:t>
            </a:r>
            <a:r>
              <a:rPr lang="en-US" sz="2100" dirty="0">
                <a:solidFill>
                  <a:srgbClr val="FFC000"/>
                </a:solidFill>
              </a:rPr>
              <a:t> -v</a:t>
            </a:r>
          </a:p>
          <a:p>
            <a:pPr marL="457200" indent="-457200">
              <a:buFont typeface="+mj-lt"/>
              <a:buAutoNum type="arabicPeriod"/>
            </a:pPr>
            <a:endParaRPr lang="en-US" sz="2800" dirty="0"/>
          </a:p>
        </p:txBody>
      </p:sp>
    </p:spTree>
    <p:extLst>
      <p:ext uri="{BB962C8B-B14F-4D97-AF65-F5344CB8AC3E}">
        <p14:creationId xmlns:p14="http://schemas.microsoft.com/office/powerpoint/2010/main" val="17469410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smtClean="0">
                <a:latin typeface="Rockwell" panose="02060603020205020403" pitchFamily="18" charset="0"/>
              </a:rPr>
              <a:t>Angular Application setup</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p:txBody>
          <a:bodyPr>
            <a:normAutofit fontScale="77500" lnSpcReduction="20000"/>
          </a:bodyPr>
          <a:lstStyle/>
          <a:p>
            <a:pPr marL="0" indent="0">
              <a:buNone/>
            </a:pPr>
            <a:r>
              <a:rPr lang="en-US" dirty="0">
                <a:ea typeface="Tahoma" panose="020B0604030504040204" pitchFamily="34" charset="0"/>
                <a:cs typeface="Tahoma" panose="020B0604030504040204" pitchFamily="34" charset="0"/>
              </a:rPr>
              <a:t>Install Node.js (Required for Angular</a:t>
            </a:r>
            <a:r>
              <a:rPr lang="en-US" dirty="0" smtClean="0">
                <a:ea typeface="Tahoma" panose="020B0604030504040204" pitchFamily="34" charset="0"/>
                <a:cs typeface="Tahoma" panose="020B0604030504040204" pitchFamily="34" charset="0"/>
              </a:rPr>
              <a:t>) </a:t>
            </a:r>
            <a:r>
              <a:rPr lang="en-US" dirty="0">
                <a:ea typeface="Tahoma" panose="020B0604030504040204" pitchFamily="34" charset="0"/>
                <a:cs typeface="Tahoma" panose="020B0604030504040204" pitchFamily="34" charset="0"/>
              </a:rPr>
              <a:t>for </a:t>
            </a:r>
            <a:r>
              <a:rPr lang="en-US" dirty="0" err="1">
                <a:ea typeface="Tahoma" panose="020B0604030504040204" pitchFamily="34" charset="0"/>
                <a:cs typeface="Tahoma" panose="020B0604030504040204" pitchFamily="34" charset="0"/>
              </a:rPr>
              <a:t>macOS</a:t>
            </a:r>
            <a:r>
              <a:rPr lang="en-US" dirty="0">
                <a:ea typeface="Tahoma" panose="020B0604030504040204" pitchFamily="34" charset="0"/>
                <a:cs typeface="Tahoma" panose="020B0604030504040204" pitchFamily="34" charset="0"/>
              </a:rPr>
              <a:t>.</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US" dirty="0"/>
              <a:t>Install Homebrew (if not installed</a:t>
            </a:r>
            <a:r>
              <a:rPr lang="en-US" dirty="0" smtClean="0"/>
              <a:t>)</a:t>
            </a:r>
          </a:p>
          <a:p>
            <a:pPr lvl="1"/>
            <a:r>
              <a:rPr lang="en-US" dirty="0" smtClean="0">
                <a:solidFill>
                  <a:schemeClr val="accent2">
                    <a:lumMod val="60000"/>
                    <a:lumOff val="40000"/>
                  </a:schemeClr>
                </a:solidFill>
              </a:rPr>
              <a:t>/bin/bash -c "$(curl -</a:t>
            </a:r>
            <a:r>
              <a:rPr lang="en-US" dirty="0" err="1" smtClean="0">
                <a:solidFill>
                  <a:schemeClr val="accent2">
                    <a:lumMod val="60000"/>
                    <a:lumOff val="40000"/>
                  </a:schemeClr>
                </a:solidFill>
              </a:rPr>
              <a:t>fsSL</a:t>
            </a:r>
            <a:r>
              <a:rPr lang="en-US" dirty="0" smtClean="0"/>
              <a:t> </a:t>
            </a:r>
            <a:r>
              <a:rPr lang="en-US" dirty="0" smtClean="0">
                <a:hlinkClick r:id="rId2"/>
              </a:rPr>
              <a:t>https://raw.githubusercontent.com/Homebrew/install/HEAD/install.sh</a:t>
            </a:r>
            <a:r>
              <a:rPr lang="en-US" dirty="0" smtClean="0">
                <a:solidFill>
                  <a:schemeClr val="accent2">
                    <a:lumMod val="60000"/>
                    <a:lumOff val="40000"/>
                  </a:schemeClr>
                </a:solidFill>
              </a:rPr>
              <a:t>)“</a:t>
            </a:r>
            <a:endParaRPr lang="en-US" dirty="0" smtClean="0">
              <a:solidFill>
                <a:schemeClr val="accent2">
                  <a:lumMod val="60000"/>
                  <a:lumOff val="40000"/>
                </a:schemeClr>
              </a:solidFill>
            </a:endParaRPr>
          </a:p>
          <a:p>
            <a:pPr lvl="1"/>
            <a:r>
              <a:rPr lang="en-US" dirty="0"/>
              <a:t>This is the package manager for </a:t>
            </a:r>
            <a:r>
              <a:rPr lang="en-US" dirty="0" err="1"/>
              <a:t>macOS</a:t>
            </a:r>
            <a:endParaRPr lang="en-US" dirty="0"/>
          </a:p>
          <a:p>
            <a:pPr marL="457200" indent="-457200">
              <a:buFont typeface="+mj-lt"/>
              <a:buAutoNum type="arabicPeriod"/>
            </a:pPr>
            <a:r>
              <a:rPr lang="en-US" dirty="0">
                <a:ea typeface="Tahoma" panose="020B0604030504040204" pitchFamily="34" charset="0"/>
                <a:cs typeface="Tahoma" panose="020B0604030504040204" pitchFamily="34" charset="0"/>
              </a:rPr>
              <a:t>Install Node.js via </a:t>
            </a:r>
            <a:r>
              <a:rPr lang="en-US" dirty="0" smtClean="0">
                <a:ea typeface="Tahoma" panose="020B0604030504040204" pitchFamily="34" charset="0"/>
                <a:cs typeface="Tahoma" panose="020B0604030504040204" pitchFamily="34" charset="0"/>
              </a:rPr>
              <a:t>Homebrew.</a:t>
            </a:r>
            <a:endParaRPr lang="en-US" sz="2800" dirty="0" smtClean="0"/>
          </a:p>
          <a:p>
            <a:pPr lvl="1"/>
            <a:r>
              <a:rPr lang="en-US" dirty="0">
                <a:solidFill>
                  <a:srgbClr val="FFC000"/>
                </a:solidFill>
              </a:rPr>
              <a:t>brew install node@18</a:t>
            </a:r>
          </a:p>
          <a:p>
            <a:pPr lvl="1"/>
            <a:r>
              <a:rPr lang="en-US" dirty="0"/>
              <a:t>Or install the latest LTS version by running: </a:t>
            </a:r>
            <a:r>
              <a:rPr lang="en-US" dirty="0">
                <a:solidFill>
                  <a:srgbClr val="FFC000"/>
                </a:solidFill>
              </a:rPr>
              <a:t>brew install node</a:t>
            </a:r>
            <a:endParaRPr lang="en-US" dirty="0" smtClean="0">
              <a:solidFill>
                <a:srgbClr val="FFC000"/>
              </a:solidFill>
            </a:endParaRPr>
          </a:p>
          <a:p>
            <a:pPr marL="457200" indent="-457200">
              <a:buFont typeface="+mj-lt"/>
              <a:buAutoNum type="arabicPeriod"/>
            </a:pPr>
            <a:r>
              <a:rPr lang="en-US" dirty="0" smtClean="0">
                <a:ea typeface="Tahoma" panose="020B0604030504040204" pitchFamily="34" charset="0"/>
                <a:cs typeface="Tahoma" panose="020B0604030504040204" pitchFamily="34" charset="0"/>
              </a:rPr>
              <a:t>Verify </a:t>
            </a:r>
            <a:r>
              <a:rPr lang="en-US" dirty="0">
                <a:ea typeface="Tahoma" panose="020B0604030504040204" pitchFamily="34" charset="0"/>
                <a:cs typeface="Tahoma" panose="020B0604030504040204" pitchFamily="34" charset="0"/>
              </a:rPr>
              <a:t>Node.js </a:t>
            </a:r>
            <a:r>
              <a:rPr lang="en-US" dirty="0" smtClean="0">
                <a:ea typeface="Tahoma" panose="020B0604030504040204" pitchFamily="34" charset="0"/>
                <a:cs typeface="Tahoma" panose="020B0604030504040204" pitchFamily="34" charset="0"/>
              </a:rPr>
              <a:t>installation</a:t>
            </a:r>
          </a:p>
          <a:p>
            <a:pPr lvl="1"/>
            <a:r>
              <a:rPr lang="en-US" sz="2100" dirty="0">
                <a:solidFill>
                  <a:srgbClr val="FFC000"/>
                </a:solidFill>
              </a:rPr>
              <a:t>node -v</a:t>
            </a:r>
          </a:p>
          <a:p>
            <a:pPr lvl="1"/>
            <a:r>
              <a:rPr lang="en-US" sz="2100" dirty="0" err="1">
                <a:solidFill>
                  <a:srgbClr val="FFC000"/>
                </a:solidFill>
              </a:rPr>
              <a:t>npm</a:t>
            </a:r>
            <a:r>
              <a:rPr lang="en-US" sz="2100" dirty="0">
                <a:solidFill>
                  <a:srgbClr val="FFC000"/>
                </a:solidFill>
              </a:rPr>
              <a:t> -v</a:t>
            </a:r>
          </a:p>
          <a:p>
            <a:pPr marL="457200" indent="-457200">
              <a:buFont typeface="+mj-lt"/>
              <a:buAutoNum type="arabicPeriod"/>
            </a:pPr>
            <a:endParaRPr lang="en-US" sz="2800" dirty="0"/>
          </a:p>
        </p:txBody>
      </p:sp>
    </p:spTree>
    <p:extLst>
      <p:ext uri="{BB962C8B-B14F-4D97-AF65-F5344CB8AC3E}">
        <p14:creationId xmlns:p14="http://schemas.microsoft.com/office/powerpoint/2010/main" val="11355858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smtClean="0">
                <a:latin typeface="Rockwell" panose="02060603020205020403" pitchFamily="18" charset="0"/>
              </a:rPr>
              <a:t>Angular CLI setup</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p:txBody>
          <a:bodyPr>
            <a:normAutofit fontScale="70000" lnSpcReduction="20000"/>
          </a:bodyPr>
          <a:lstStyle/>
          <a:p>
            <a:pPr marL="0" indent="0">
              <a:buNone/>
            </a:pPr>
            <a:r>
              <a:rPr lang="en-US" dirty="0">
                <a:ea typeface="Tahoma" panose="020B0604030504040204" pitchFamily="34" charset="0"/>
                <a:cs typeface="Tahoma" panose="020B0604030504040204" pitchFamily="34" charset="0"/>
              </a:rPr>
              <a:t>Install Angular CLI (Command Line Interface).</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US" dirty="0"/>
              <a:t>Angular CLI is the tool used to create and manage Angular </a:t>
            </a:r>
            <a:r>
              <a:rPr lang="en-US" dirty="0" smtClean="0"/>
              <a:t>projects.</a:t>
            </a:r>
          </a:p>
          <a:p>
            <a:pPr lvl="1"/>
            <a:r>
              <a:rPr lang="en-US" sz="2100" dirty="0"/>
              <a:t>Open Command Prompt (Windows) or Terminal (</a:t>
            </a:r>
            <a:r>
              <a:rPr lang="en-US" sz="2100" dirty="0" err="1"/>
              <a:t>macOS</a:t>
            </a:r>
            <a:r>
              <a:rPr lang="en-US" sz="2100" dirty="0"/>
              <a:t>). </a:t>
            </a:r>
          </a:p>
          <a:p>
            <a:pPr lvl="1"/>
            <a:r>
              <a:rPr lang="en-US" sz="2100" dirty="0"/>
              <a:t>Install Angular CLI globally by </a:t>
            </a:r>
            <a:r>
              <a:rPr lang="en-US" sz="2100" dirty="0" smtClean="0"/>
              <a:t>running</a:t>
            </a:r>
          </a:p>
          <a:p>
            <a:pPr lvl="1"/>
            <a:r>
              <a:rPr lang="en-US" sz="2100" dirty="0" err="1">
                <a:solidFill>
                  <a:srgbClr val="FFC000"/>
                </a:solidFill>
              </a:rPr>
              <a:t>npm</a:t>
            </a:r>
            <a:r>
              <a:rPr lang="en-US" sz="2100" dirty="0">
                <a:solidFill>
                  <a:srgbClr val="FFC000"/>
                </a:solidFill>
              </a:rPr>
              <a:t> install -g @</a:t>
            </a:r>
            <a:r>
              <a:rPr lang="en-US" sz="2100" dirty="0" smtClean="0">
                <a:solidFill>
                  <a:srgbClr val="FFC000"/>
                </a:solidFill>
              </a:rPr>
              <a:t>angular/cli@16</a:t>
            </a:r>
          </a:p>
          <a:p>
            <a:pPr lvl="1"/>
            <a:r>
              <a:rPr lang="en-US" sz="2100" dirty="0"/>
              <a:t>Verify Angular CLI installation: </a:t>
            </a:r>
            <a:r>
              <a:rPr lang="en-US" sz="2100" dirty="0">
                <a:solidFill>
                  <a:srgbClr val="FFC000"/>
                </a:solidFill>
              </a:rPr>
              <a:t>ng version</a:t>
            </a:r>
          </a:p>
          <a:p>
            <a:pPr marL="457200" indent="-457200">
              <a:buFont typeface="+mj-lt"/>
              <a:buAutoNum type="arabicPeriod"/>
            </a:pPr>
            <a:r>
              <a:rPr lang="en-US" dirty="0">
                <a:ea typeface="Tahoma" panose="020B0604030504040204" pitchFamily="34" charset="0"/>
                <a:cs typeface="Tahoma" panose="020B0604030504040204" pitchFamily="34" charset="0"/>
              </a:rPr>
              <a:t>Create a New Angular 16 Project.</a:t>
            </a:r>
            <a:endParaRPr lang="en-US" sz="2800" dirty="0" smtClean="0"/>
          </a:p>
          <a:p>
            <a:pPr lvl="1"/>
            <a:r>
              <a:rPr lang="en-US" dirty="0">
                <a:solidFill>
                  <a:srgbClr val="FFC000"/>
                </a:solidFill>
              </a:rPr>
              <a:t>ng new </a:t>
            </a:r>
            <a:r>
              <a:rPr lang="en-US" dirty="0" smtClean="0">
                <a:solidFill>
                  <a:srgbClr val="FFC000"/>
                </a:solidFill>
              </a:rPr>
              <a:t>training</a:t>
            </a:r>
          </a:p>
          <a:p>
            <a:pPr lvl="1"/>
            <a:r>
              <a:rPr lang="en-US" dirty="0">
                <a:solidFill>
                  <a:srgbClr val="FFC000"/>
                </a:solidFill>
              </a:rPr>
              <a:t>cd </a:t>
            </a:r>
            <a:r>
              <a:rPr lang="en-US" dirty="0" smtClean="0">
                <a:solidFill>
                  <a:srgbClr val="FFC000"/>
                </a:solidFill>
              </a:rPr>
              <a:t>training</a:t>
            </a:r>
            <a:endParaRPr lang="en-US" dirty="0" smtClean="0">
              <a:solidFill>
                <a:srgbClr val="FFC000"/>
              </a:solidFill>
            </a:endParaRPr>
          </a:p>
          <a:p>
            <a:pPr lvl="1"/>
            <a:r>
              <a:rPr lang="en-US" dirty="0">
                <a:solidFill>
                  <a:srgbClr val="FFC000"/>
                </a:solidFill>
              </a:rPr>
              <a:t>ng </a:t>
            </a:r>
            <a:r>
              <a:rPr lang="en-US" dirty="0" smtClean="0">
                <a:solidFill>
                  <a:srgbClr val="FFC000"/>
                </a:solidFill>
              </a:rPr>
              <a:t>serve</a:t>
            </a:r>
          </a:p>
          <a:p>
            <a:pPr lvl="1"/>
            <a:r>
              <a:rPr lang="en-US" dirty="0">
                <a:solidFill>
                  <a:srgbClr val="FFC000"/>
                </a:solidFill>
              </a:rPr>
              <a:t>Set-</a:t>
            </a:r>
            <a:r>
              <a:rPr lang="en-US" dirty="0" err="1">
                <a:solidFill>
                  <a:srgbClr val="FFC000"/>
                </a:solidFill>
              </a:rPr>
              <a:t>ExecutionPolicy</a:t>
            </a:r>
            <a:r>
              <a:rPr lang="en-US" dirty="0">
                <a:solidFill>
                  <a:srgbClr val="FFC000"/>
                </a:solidFill>
              </a:rPr>
              <a:t> -Scope </a:t>
            </a:r>
            <a:r>
              <a:rPr lang="en-US" dirty="0" err="1">
                <a:solidFill>
                  <a:srgbClr val="FFC000"/>
                </a:solidFill>
              </a:rPr>
              <a:t>CurrentUser</a:t>
            </a:r>
            <a:r>
              <a:rPr lang="en-US" dirty="0">
                <a:solidFill>
                  <a:srgbClr val="FFC000"/>
                </a:solidFill>
              </a:rPr>
              <a:t> -</a:t>
            </a:r>
            <a:r>
              <a:rPr lang="en-US" dirty="0" err="1">
                <a:solidFill>
                  <a:srgbClr val="FFC000"/>
                </a:solidFill>
              </a:rPr>
              <a:t>ExecutionPolicy</a:t>
            </a:r>
            <a:r>
              <a:rPr lang="en-US" dirty="0">
                <a:solidFill>
                  <a:srgbClr val="FFC000"/>
                </a:solidFill>
              </a:rPr>
              <a:t> </a:t>
            </a:r>
            <a:r>
              <a:rPr lang="en-US" dirty="0" err="1" smtClean="0">
                <a:solidFill>
                  <a:srgbClr val="FFC000"/>
                </a:solidFill>
              </a:rPr>
              <a:t>RemoteSigned</a:t>
            </a:r>
            <a:r>
              <a:rPr lang="en-US" dirty="0" smtClean="0">
                <a:solidFill>
                  <a:srgbClr val="FFC000"/>
                </a:solidFill>
              </a:rPr>
              <a:t> </a:t>
            </a:r>
            <a:r>
              <a:rPr lang="en-US" sz="2100" dirty="0" smtClean="0"/>
              <a:t>(</a:t>
            </a:r>
            <a:r>
              <a:rPr lang="en-US" sz="2100" dirty="0"/>
              <a:t>If got error on the vs code PowerShell)</a:t>
            </a:r>
          </a:p>
          <a:p>
            <a:pPr marL="0" indent="0">
              <a:buNone/>
            </a:pPr>
            <a:endParaRPr lang="en-US" sz="2800" dirty="0"/>
          </a:p>
        </p:txBody>
      </p:sp>
    </p:spTree>
    <p:extLst>
      <p:ext uri="{BB962C8B-B14F-4D97-AF65-F5344CB8AC3E}">
        <p14:creationId xmlns:p14="http://schemas.microsoft.com/office/powerpoint/2010/main" val="1112017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052882" y="0"/>
            <a:ext cx="10083057" cy="354605"/>
          </a:xfrm>
        </p:spPr>
        <p:txBody>
          <a:bodyPr>
            <a:normAutofit/>
          </a:bodyPr>
          <a:lstStyle/>
          <a:p>
            <a:r>
              <a:rPr lang="en-US" sz="1800" dirty="0">
                <a:latin typeface="Rockwell" panose="02060603020205020403" pitchFamily="18" charset="0"/>
              </a:rPr>
              <a:t>Typical Angular Folder Structure</a:t>
            </a: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0" y="354605"/>
            <a:ext cx="9905999" cy="7813580"/>
          </a:xfrm>
        </p:spPr>
        <p:txBody>
          <a:bodyPr>
            <a:noAutofit/>
          </a:bodyPr>
          <a:lstStyle/>
          <a:p>
            <a:pPr marL="0" indent="0">
              <a:buNone/>
            </a:pPr>
            <a:r>
              <a:rPr lang="en-US" sz="1000" dirty="0"/>
              <a:t>angular-project</a:t>
            </a:r>
            <a:r>
              <a:rPr lang="en-US" sz="1000" dirty="0" smtClean="0"/>
              <a:t>/</a:t>
            </a:r>
            <a:endParaRPr lang="en-US" sz="1000" dirty="0"/>
          </a:p>
          <a:p>
            <a:pPr marL="0" indent="0">
              <a:buNone/>
            </a:pPr>
            <a:r>
              <a:rPr lang="en-US" sz="1000" dirty="0"/>
              <a:t>├── e2e/                    # End-to-End Tests</a:t>
            </a:r>
          </a:p>
          <a:p>
            <a:pPr marL="0" indent="0">
              <a:buNone/>
            </a:pPr>
            <a:r>
              <a:rPr lang="en-US" sz="1000" dirty="0"/>
              <a:t>│   ├── </a:t>
            </a:r>
            <a:r>
              <a:rPr lang="en-US" sz="1000" dirty="0" err="1"/>
              <a:t>src</a:t>
            </a:r>
            <a:r>
              <a:rPr lang="en-US" sz="1000" dirty="0"/>
              <a:t>/</a:t>
            </a:r>
          </a:p>
          <a:p>
            <a:pPr marL="0" indent="0">
              <a:buNone/>
            </a:pPr>
            <a:r>
              <a:rPr lang="en-US" sz="1000" dirty="0"/>
              <a:t>│   │   └── app.e2e-spec.ts</a:t>
            </a:r>
          </a:p>
          <a:p>
            <a:pPr marL="0" indent="0">
              <a:buNone/>
            </a:pPr>
            <a:r>
              <a:rPr lang="en-US" sz="1000" dirty="0"/>
              <a:t>│   │   └── </a:t>
            </a:r>
            <a:r>
              <a:rPr lang="en-US" sz="1000" dirty="0" err="1" smtClean="0"/>
              <a:t>app.po.ts</a:t>
            </a:r>
            <a:endParaRPr lang="en-US" sz="1000" dirty="0"/>
          </a:p>
          <a:p>
            <a:pPr marL="0" indent="0">
              <a:buNone/>
            </a:pPr>
            <a:r>
              <a:rPr lang="en-US" sz="1000" dirty="0"/>
              <a:t>├── </a:t>
            </a:r>
            <a:r>
              <a:rPr lang="en-US" sz="1000" dirty="0" err="1"/>
              <a:t>node_modules</a:t>
            </a:r>
            <a:r>
              <a:rPr lang="en-US" sz="1000" dirty="0"/>
              <a:t>/           # Installed </a:t>
            </a:r>
            <a:r>
              <a:rPr lang="en-US" sz="1000" dirty="0" err="1"/>
              <a:t>npm</a:t>
            </a:r>
            <a:r>
              <a:rPr lang="en-US" sz="1000" dirty="0"/>
              <a:t> </a:t>
            </a:r>
            <a:r>
              <a:rPr lang="en-US" sz="1000" dirty="0" smtClean="0"/>
              <a:t>packages</a:t>
            </a:r>
            <a:endParaRPr lang="en-US" sz="1000" dirty="0"/>
          </a:p>
          <a:p>
            <a:pPr marL="0" indent="0">
              <a:buNone/>
            </a:pPr>
            <a:r>
              <a:rPr lang="en-US" sz="1000" dirty="0"/>
              <a:t>├── </a:t>
            </a:r>
            <a:r>
              <a:rPr lang="en-US" sz="1000" dirty="0" err="1"/>
              <a:t>src</a:t>
            </a:r>
            <a:r>
              <a:rPr lang="en-US" sz="1000" dirty="0"/>
              <a:t>/                    # Source code for the application</a:t>
            </a:r>
          </a:p>
          <a:p>
            <a:pPr marL="0" indent="0">
              <a:buNone/>
            </a:pPr>
            <a:r>
              <a:rPr lang="en-US" sz="1000" dirty="0"/>
              <a:t>│   ├── app/                # Main app folder containing all components, services, etc.</a:t>
            </a:r>
          </a:p>
          <a:p>
            <a:pPr marL="0" indent="0">
              <a:buNone/>
            </a:pPr>
            <a:r>
              <a:rPr lang="en-US" sz="1000" dirty="0"/>
              <a:t>│   │   ├── components/     # Folder for reusable UI components</a:t>
            </a:r>
          </a:p>
          <a:p>
            <a:pPr marL="0" indent="0">
              <a:buNone/>
            </a:pPr>
            <a:r>
              <a:rPr lang="en-US" sz="1000" dirty="0"/>
              <a:t>│   │   ├── services/       # Folder for services that provide business logic</a:t>
            </a:r>
          </a:p>
          <a:p>
            <a:pPr marL="0" indent="0">
              <a:buNone/>
            </a:pPr>
            <a:r>
              <a:rPr lang="en-US" sz="1000" dirty="0"/>
              <a:t>│   │   ├── models/         # Folder for data models and types</a:t>
            </a:r>
          </a:p>
          <a:p>
            <a:pPr marL="0" indent="0">
              <a:buNone/>
            </a:pPr>
            <a:r>
              <a:rPr lang="en-US" sz="1000" dirty="0"/>
              <a:t>│   │   ├── pages/          # Folder for page-level components (views)</a:t>
            </a:r>
          </a:p>
          <a:p>
            <a:pPr marL="0" indent="0">
              <a:buNone/>
            </a:pPr>
            <a:r>
              <a:rPr lang="en-US" sz="1000" dirty="0"/>
              <a:t>│   │   ├── </a:t>
            </a:r>
            <a:r>
              <a:rPr lang="en-US" sz="1000" dirty="0" err="1"/>
              <a:t>app.component.ts</a:t>
            </a:r>
            <a:r>
              <a:rPr lang="en-US" sz="1000" dirty="0"/>
              <a:t>  # Root component (</a:t>
            </a:r>
            <a:r>
              <a:rPr lang="en-US" sz="1000" dirty="0" err="1"/>
              <a:t>AppComponent</a:t>
            </a:r>
            <a:r>
              <a:rPr lang="en-US" sz="1000" dirty="0"/>
              <a:t>)</a:t>
            </a:r>
          </a:p>
          <a:p>
            <a:pPr marL="0" indent="0">
              <a:buNone/>
            </a:pPr>
            <a:r>
              <a:rPr lang="en-US" sz="1000" dirty="0"/>
              <a:t>│   │   ├── </a:t>
            </a:r>
            <a:r>
              <a:rPr lang="en-US" sz="1000" dirty="0" err="1"/>
              <a:t>app.module.ts</a:t>
            </a:r>
            <a:r>
              <a:rPr lang="en-US" sz="1000" dirty="0"/>
              <a:t>    # Main module for the application (</a:t>
            </a:r>
            <a:r>
              <a:rPr lang="en-US" sz="1000" dirty="0" err="1"/>
              <a:t>AppModule</a:t>
            </a:r>
            <a:r>
              <a:rPr lang="en-US" sz="1000" dirty="0"/>
              <a:t>)</a:t>
            </a:r>
          </a:p>
          <a:p>
            <a:pPr marL="0" indent="0">
              <a:buNone/>
            </a:pPr>
            <a:r>
              <a:rPr lang="en-US" sz="1000" dirty="0"/>
              <a:t>│   │   ├── app-</a:t>
            </a:r>
            <a:r>
              <a:rPr lang="en-US" sz="1000" dirty="0" err="1"/>
              <a:t>routing.module.ts</a:t>
            </a:r>
            <a:r>
              <a:rPr lang="en-US" sz="1000" dirty="0"/>
              <a:t>  # Routing configuration</a:t>
            </a:r>
          </a:p>
          <a:p>
            <a:pPr marL="0" indent="0">
              <a:buNone/>
            </a:pPr>
            <a:r>
              <a:rPr lang="en-US" sz="1000" dirty="0"/>
              <a:t>│   │   └── app.component.html  # Template for the root </a:t>
            </a:r>
            <a:r>
              <a:rPr lang="en-US" sz="1000" dirty="0" smtClean="0"/>
              <a:t>component</a:t>
            </a:r>
            <a:endParaRPr lang="en-US" sz="1000" dirty="0"/>
          </a:p>
          <a:p>
            <a:pPr marL="0" indent="0">
              <a:buNone/>
            </a:pPr>
            <a:r>
              <a:rPr lang="en-US" sz="1000" dirty="0"/>
              <a:t>│   ├── assets/             # Folder for static assets (images, fonts, etc.)</a:t>
            </a:r>
          </a:p>
          <a:p>
            <a:pPr marL="0" indent="0">
              <a:buNone/>
            </a:pPr>
            <a:r>
              <a:rPr lang="en-US" sz="1000" dirty="0"/>
              <a:t>│   ├── environments/       # Environment-specific configurations</a:t>
            </a:r>
          </a:p>
          <a:p>
            <a:pPr marL="0" indent="0">
              <a:buNone/>
            </a:pPr>
            <a:r>
              <a:rPr lang="en-US" sz="1000" dirty="0"/>
              <a:t>│   │   ├── </a:t>
            </a:r>
            <a:r>
              <a:rPr lang="en-US" sz="1000" dirty="0" err="1"/>
              <a:t>environment.ts</a:t>
            </a:r>
            <a:r>
              <a:rPr lang="en-US" sz="1000" dirty="0"/>
              <a:t>  # Development environment settings</a:t>
            </a:r>
          </a:p>
          <a:p>
            <a:pPr marL="0" indent="0">
              <a:buNone/>
            </a:pPr>
            <a:r>
              <a:rPr lang="en-US" sz="1000" dirty="0"/>
              <a:t>│   │   ├── </a:t>
            </a:r>
            <a:r>
              <a:rPr lang="en-US" sz="1000" dirty="0" err="1"/>
              <a:t>environment.prod.ts</a:t>
            </a:r>
            <a:r>
              <a:rPr lang="en-US" sz="1000" dirty="0"/>
              <a:t>  # Production environment </a:t>
            </a:r>
            <a:r>
              <a:rPr lang="en-US" sz="1000" dirty="0" smtClean="0"/>
              <a:t>settings</a:t>
            </a:r>
            <a:endParaRPr lang="en-US" sz="1000" dirty="0"/>
          </a:p>
          <a:p>
            <a:pPr marL="0" indent="0">
              <a:buNone/>
            </a:pPr>
            <a:r>
              <a:rPr lang="en-US" sz="1000" dirty="0"/>
              <a:t>│   ├── styles/             # Global styles (CSS/SCSS files)</a:t>
            </a:r>
          </a:p>
          <a:p>
            <a:pPr marL="0" indent="0">
              <a:buNone/>
            </a:pPr>
            <a:r>
              <a:rPr lang="en-US" sz="1000" dirty="0">
                <a:solidFill>
                  <a:schemeClr val="bg1"/>
                </a:solidFill>
              </a:rPr>
              <a:t>│   ├── index.html          # Entry HTML file for the application</a:t>
            </a:r>
          </a:p>
          <a:p>
            <a:pPr marL="0" indent="0">
              <a:buNone/>
            </a:pPr>
            <a:r>
              <a:rPr lang="en-US" sz="1000" dirty="0">
                <a:solidFill>
                  <a:schemeClr val="bg1"/>
                </a:solidFill>
              </a:rPr>
              <a:t>│   ├── </a:t>
            </a:r>
            <a:r>
              <a:rPr lang="en-US" sz="1000" dirty="0" err="1">
                <a:solidFill>
                  <a:schemeClr val="bg1"/>
                </a:solidFill>
              </a:rPr>
              <a:t>main.ts</a:t>
            </a:r>
            <a:r>
              <a:rPr lang="en-US" sz="1000" dirty="0">
                <a:solidFill>
                  <a:schemeClr val="bg1"/>
                </a:solidFill>
              </a:rPr>
              <a:t>             # Entry point for the app (bootstraps the </a:t>
            </a:r>
            <a:r>
              <a:rPr lang="en-US" sz="1000" dirty="0" err="1">
                <a:solidFill>
                  <a:schemeClr val="bg1"/>
                </a:solidFill>
              </a:rPr>
              <a:t>AppModule</a:t>
            </a:r>
            <a:r>
              <a:rPr lang="en-US" sz="1000" dirty="0">
                <a:solidFill>
                  <a:schemeClr val="bg1"/>
                </a:solidFill>
              </a:rPr>
              <a:t>)</a:t>
            </a:r>
          </a:p>
          <a:p>
            <a:pPr marL="0" indent="0">
              <a:buNone/>
            </a:pPr>
            <a:r>
              <a:rPr lang="en-US" sz="1000" dirty="0">
                <a:solidFill>
                  <a:schemeClr val="bg1"/>
                </a:solidFill>
              </a:rPr>
              <a:t>│   ├── </a:t>
            </a:r>
            <a:r>
              <a:rPr lang="en-US" sz="1000" dirty="0" err="1">
                <a:solidFill>
                  <a:schemeClr val="bg1"/>
                </a:solidFill>
              </a:rPr>
              <a:t>polyfills.ts</a:t>
            </a:r>
            <a:r>
              <a:rPr lang="en-US" sz="1000" dirty="0">
                <a:solidFill>
                  <a:schemeClr val="bg1"/>
                </a:solidFill>
              </a:rPr>
              <a:t>        # </a:t>
            </a:r>
            <a:r>
              <a:rPr lang="en-US" sz="1000" dirty="0" err="1">
                <a:solidFill>
                  <a:schemeClr val="bg1"/>
                </a:solidFill>
              </a:rPr>
              <a:t>Polyfills</a:t>
            </a:r>
            <a:r>
              <a:rPr lang="en-US" sz="1000" dirty="0">
                <a:solidFill>
                  <a:schemeClr val="bg1"/>
                </a:solidFill>
              </a:rPr>
              <a:t> for browser compatibility</a:t>
            </a:r>
          </a:p>
          <a:p>
            <a:pPr marL="0" indent="0">
              <a:buNone/>
            </a:pPr>
            <a:r>
              <a:rPr lang="en-US" sz="1000" dirty="0">
                <a:solidFill>
                  <a:schemeClr val="bg1"/>
                </a:solidFill>
              </a:rPr>
              <a:t>│   ├── </a:t>
            </a:r>
            <a:r>
              <a:rPr lang="en-US" sz="1000" dirty="0" err="1">
                <a:solidFill>
                  <a:schemeClr val="bg1"/>
                </a:solidFill>
              </a:rPr>
              <a:t>tsconfig.app.json</a:t>
            </a:r>
            <a:r>
              <a:rPr lang="en-US" sz="1000" dirty="0">
                <a:solidFill>
                  <a:schemeClr val="bg1"/>
                </a:solidFill>
              </a:rPr>
              <a:t>   # </a:t>
            </a:r>
            <a:r>
              <a:rPr lang="en-US" sz="1000" dirty="0" err="1">
                <a:solidFill>
                  <a:schemeClr val="bg1"/>
                </a:solidFill>
              </a:rPr>
              <a:t>TypeScript</a:t>
            </a:r>
            <a:r>
              <a:rPr lang="en-US" sz="1000" dirty="0">
                <a:solidFill>
                  <a:schemeClr val="bg1"/>
                </a:solidFill>
              </a:rPr>
              <a:t> configuration for the app</a:t>
            </a:r>
          </a:p>
          <a:p>
            <a:pPr marL="0" indent="0">
              <a:buNone/>
            </a:pPr>
            <a:r>
              <a:rPr lang="en-US" sz="1000" dirty="0">
                <a:solidFill>
                  <a:schemeClr val="bg1"/>
                </a:solidFill>
              </a:rPr>
              <a:t>│   ├── </a:t>
            </a:r>
            <a:r>
              <a:rPr lang="en-US" sz="1000" dirty="0" err="1">
                <a:solidFill>
                  <a:schemeClr val="bg1"/>
                </a:solidFill>
              </a:rPr>
              <a:t>tsconfig.json</a:t>
            </a:r>
            <a:r>
              <a:rPr lang="en-US" sz="1000" dirty="0">
                <a:solidFill>
                  <a:schemeClr val="bg1"/>
                </a:solidFill>
              </a:rPr>
              <a:t>       # Base </a:t>
            </a:r>
            <a:r>
              <a:rPr lang="en-US" sz="1000" dirty="0" err="1">
                <a:solidFill>
                  <a:schemeClr val="bg1"/>
                </a:solidFill>
              </a:rPr>
              <a:t>TypeScript</a:t>
            </a:r>
            <a:r>
              <a:rPr lang="en-US" sz="1000" dirty="0">
                <a:solidFill>
                  <a:schemeClr val="bg1"/>
                </a:solidFill>
              </a:rPr>
              <a:t> configuration</a:t>
            </a:r>
          </a:p>
          <a:p>
            <a:pPr marL="0" indent="0">
              <a:buNone/>
            </a:pPr>
            <a:r>
              <a:rPr lang="en-US" sz="1000" dirty="0">
                <a:solidFill>
                  <a:schemeClr val="bg1"/>
                </a:solidFill>
              </a:rPr>
              <a:t>│   ├── </a:t>
            </a:r>
            <a:r>
              <a:rPr lang="en-US" sz="1000" dirty="0" err="1">
                <a:solidFill>
                  <a:schemeClr val="bg1"/>
                </a:solidFill>
              </a:rPr>
              <a:t>angular.json</a:t>
            </a:r>
            <a:r>
              <a:rPr lang="en-US" sz="1000" dirty="0">
                <a:solidFill>
                  <a:schemeClr val="bg1"/>
                </a:solidFill>
              </a:rPr>
              <a:t>        # Angular CLI configuration</a:t>
            </a:r>
          </a:p>
          <a:p>
            <a:pPr marL="0" indent="0">
              <a:buNone/>
            </a:pPr>
            <a:r>
              <a:rPr lang="en-US" sz="1000" dirty="0">
                <a:solidFill>
                  <a:schemeClr val="bg1"/>
                </a:solidFill>
              </a:rPr>
              <a:t>│   ├── </a:t>
            </a:r>
            <a:r>
              <a:rPr lang="en-US" sz="1000" dirty="0" err="1">
                <a:solidFill>
                  <a:schemeClr val="bg1"/>
                </a:solidFill>
              </a:rPr>
              <a:t>tslint.json</a:t>
            </a:r>
            <a:r>
              <a:rPr lang="en-US" sz="1000" dirty="0">
                <a:solidFill>
                  <a:schemeClr val="bg1"/>
                </a:solidFill>
              </a:rPr>
              <a:t>         # </a:t>
            </a:r>
            <a:r>
              <a:rPr lang="en-US" sz="1000" dirty="0" err="1">
                <a:solidFill>
                  <a:schemeClr val="bg1"/>
                </a:solidFill>
              </a:rPr>
              <a:t>Linting</a:t>
            </a:r>
            <a:r>
              <a:rPr lang="en-US" sz="1000" dirty="0">
                <a:solidFill>
                  <a:schemeClr val="bg1"/>
                </a:solidFill>
              </a:rPr>
              <a:t> configuration</a:t>
            </a:r>
          </a:p>
          <a:p>
            <a:pPr marL="0" indent="0">
              <a:buNone/>
            </a:pPr>
            <a:r>
              <a:rPr lang="en-US" sz="1000" dirty="0">
                <a:solidFill>
                  <a:schemeClr val="bg1"/>
                </a:solidFill>
              </a:rPr>
              <a:t>│   └── </a:t>
            </a:r>
            <a:r>
              <a:rPr lang="en-US" sz="1000" dirty="0" err="1">
                <a:solidFill>
                  <a:schemeClr val="bg1"/>
                </a:solidFill>
              </a:rPr>
              <a:t>styles.scss</a:t>
            </a:r>
            <a:r>
              <a:rPr lang="en-US" sz="1000" dirty="0">
                <a:solidFill>
                  <a:schemeClr val="bg1"/>
                </a:solidFill>
              </a:rPr>
              <a:t>         # Global styles for the app (if using SCSS</a:t>
            </a:r>
            <a:r>
              <a:rPr lang="en-US" sz="1000" dirty="0" smtClean="0">
                <a:solidFill>
                  <a:schemeClr val="bg1"/>
                </a:solidFill>
              </a:rPr>
              <a:t>)</a:t>
            </a:r>
            <a:endParaRPr lang="en-US" sz="1000" dirty="0">
              <a:solidFill>
                <a:schemeClr val="bg1"/>
              </a:solidFill>
            </a:endParaRPr>
          </a:p>
          <a:p>
            <a:pPr marL="0" indent="0">
              <a:buNone/>
            </a:pPr>
            <a:r>
              <a:rPr lang="en-US" sz="1000" dirty="0">
                <a:solidFill>
                  <a:schemeClr val="bg1"/>
                </a:solidFill>
              </a:rPr>
              <a:t>├── .</a:t>
            </a:r>
            <a:r>
              <a:rPr lang="en-US" sz="1000" dirty="0" err="1">
                <a:solidFill>
                  <a:schemeClr val="bg1"/>
                </a:solidFill>
              </a:rPr>
              <a:t>gitignore</a:t>
            </a:r>
            <a:r>
              <a:rPr lang="en-US" sz="1000" dirty="0">
                <a:solidFill>
                  <a:schemeClr val="bg1"/>
                </a:solidFill>
              </a:rPr>
              <a:t>              # </a:t>
            </a:r>
            <a:r>
              <a:rPr lang="en-US" sz="1000" dirty="0" err="1">
                <a:solidFill>
                  <a:schemeClr val="bg1"/>
                </a:solidFill>
              </a:rPr>
              <a:t>Git</a:t>
            </a:r>
            <a:r>
              <a:rPr lang="en-US" sz="1000" dirty="0">
                <a:solidFill>
                  <a:schemeClr val="bg1"/>
                </a:solidFill>
              </a:rPr>
              <a:t> ignore file to exclude files/folders from version control</a:t>
            </a:r>
          </a:p>
          <a:p>
            <a:pPr marL="0" indent="0">
              <a:buNone/>
            </a:pPr>
            <a:r>
              <a:rPr lang="en-US" sz="1000" dirty="0">
                <a:solidFill>
                  <a:schemeClr val="bg1"/>
                </a:solidFill>
              </a:rPr>
              <a:t>├── </a:t>
            </a:r>
            <a:r>
              <a:rPr lang="en-US" sz="1000" dirty="0" err="1">
                <a:solidFill>
                  <a:schemeClr val="bg1"/>
                </a:solidFill>
              </a:rPr>
              <a:t>angular.json</a:t>
            </a:r>
            <a:r>
              <a:rPr lang="en-US" sz="1000" dirty="0">
                <a:solidFill>
                  <a:schemeClr val="bg1"/>
                </a:solidFill>
              </a:rPr>
              <a:t>            # Angular CLI configuration file</a:t>
            </a:r>
          </a:p>
          <a:p>
            <a:pPr marL="0" indent="0">
              <a:buNone/>
            </a:pPr>
            <a:r>
              <a:rPr lang="en-US" sz="1000" dirty="0">
                <a:solidFill>
                  <a:schemeClr val="bg1"/>
                </a:solidFill>
              </a:rPr>
              <a:t>├── </a:t>
            </a:r>
            <a:r>
              <a:rPr lang="en-US" sz="1000" dirty="0" err="1">
                <a:solidFill>
                  <a:schemeClr val="bg1"/>
                </a:solidFill>
              </a:rPr>
              <a:t>package.json</a:t>
            </a:r>
            <a:r>
              <a:rPr lang="en-US" sz="1000" dirty="0">
                <a:solidFill>
                  <a:schemeClr val="bg1"/>
                </a:solidFill>
              </a:rPr>
              <a:t>            # Project dependencies and scripts</a:t>
            </a:r>
          </a:p>
          <a:p>
            <a:pPr marL="0" indent="0">
              <a:buNone/>
            </a:pPr>
            <a:r>
              <a:rPr lang="en-US" sz="1000" dirty="0">
                <a:solidFill>
                  <a:schemeClr val="bg1"/>
                </a:solidFill>
              </a:rPr>
              <a:t>└── README.md               # Project documentation</a:t>
            </a:r>
          </a:p>
          <a:p>
            <a:pPr marL="0" indent="0">
              <a:buNone/>
            </a:pPr>
            <a:endParaRPr lang="en-US" sz="1000" dirty="0"/>
          </a:p>
        </p:txBody>
      </p:sp>
    </p:spTree>
    <p:extLst>
      <p:ext uri="{BB962C8B-B14F-4D97-AF65-F5344CB8AC3E}">
        <p14:creationId xmlns:p14="http://schemas.microsoft.com/office/powerpoint/2010/main" val="13244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err="1">
                <a:latin typeface="Rockwell" panose="02060603020205020403" pitchFamily="18" charset="0"/>
              </a:rPr>
              <a:t>TypeScript</a:t>
            </a:r>
            <a:r>
              <a:rPr lang="en-US" sz="4400" dirty="0">
                <a:latin typeface="Rockwell" panose="02060603020205020403" pitchFamily="18" charset="0"/>
              </a:rPr>
              <a:t> Basics for Angular</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p:txBody>
          <a:bodyPr>
            <a:normAutofit fontScale="70000" lnSpcReduction="20000"/>
          </a:bodyPr>
          <a:lstStyle/>
          <a:p>
            <a:r>
              <a:rPr lang="en-US" sz="1700" dirty="0">
                <a:ea typeface="Tahoma" panose="020B0604030504040204" pitchFamily="34" charset="0"/>
                <a:cs typeface="Tahoma" panose="020B0604030504040204" pitchFamily="34" charset="0"/>
              </a:rPr>
              <a:t>Why </a:t>
            </a:r>
            <a:r>
              <a:rPr lang="en-US" sz="1700" dirty="0" err="1">
                <a:ea typeface="Tahoma" panose="020B0604030504040204" pitchFamily="34" charset="0"/>
                <a:cs typeface="Tahoma" panose="020B0604030504040204" pitchFamily="34" charset="0"/>
              </a:rPr>
              <a:t>TypeScript</a:t>
            </a:r>
            <a:r>
              <a:rPr lang="en-US" sz="1700" dirty="0">
                <a:ea typeface="Tahoma" panose="020B0604030504040204" pitchFamily="34" charset="0"/>
                <a:cs typeface="Tahoma" panose="020B0604030504040204" pitchFamily="34" charset="0"/>
              </a:rPr>
              <a:t> in Angular?</a:t>
            </a:r>
            <a:endParaRPr lang="en-US" sz="1700" dirty="0">
              <a:ea typeface="Tahoma" panose="020B0604030504040204" pitchFamily="34" charset="0"/>
              <a:cs typeface="Tahoma" panose="020B0604030504040204" pitchFamily="34" charset="0"/>
            </a:endParaRPr>
          </a:p>
          <a:p>
            <a:pPr lvl="1"/>
            <a:r>
              <a:rPr lang="en-GB" sz="1500" dirty="0"/>
              <a:t>Superset of JavaScript → adds types &amp; OOP features.</a:t>
            </a:r>
          </a:p>
          <a:p>
            <a:pPr lvl="1"/>
            <a:r>
              <a:rPr lang="en-GB" sz="1500" dirty="0"/>
              <a:t>Helps with error detection during development.</a:t>
            </a:r>
          </a:p>
          <a:p>
            <a:pPr lvl="1"/>
            <a:r>
              <a:rPr lang="en-GB" sz="1500" dirty="0"/>
              <a:t>Makes Angular code more robust &amp; maintainable</a:t>
            </a:r>
            <a:r>
              <a:rPr lang="en-GB" sz="1500" dirty="0" smtClean="0"/>
              <a:t>.</a:t>
            </a:r>
          </a:p>
          <a:p>
            <a:r>
              <a:rPr lang="en-US" sz="2100" dirty="0">
                <a:ea typeface="Tahoma" panose="020B0604030504040204" pitchFamily="34" charset="0"/>
                <a:cs typeface="Tahoma" panose="020B0604030504040204" pitchFamily="34" charset="0"/>
              </a:rPr>
              <a:t>Key Concepts:</a:t>
            </a:r>
          </a:p>
          <a:p>
            <a:pPr lvl="1"/>
            <a:r>
              <a:rPr lang="en-US" sz="1500" dirty="0" smtClean="0"/>
              <a:t>Types → string, number, </a:t>
            </a:r>
            <a:r>
              <a:rPr lang="en-US" sz="1500" dirty="0" err="1" smtClean="0"/>
              <a:t>boolean</a:t>
            </a:r>
            <a:r>
              <a:rPr lang="en-US" sz="1500" dirty="0" smtClean="0"/>
              <a:t>, any, void</a:t>
            </a:r>
          </a:p>
          <a:p>
            <a:pPr lvl="1"/>
            <a:r>
              <a:rPr lang="en-US" sz="1500" dirty="0" smtClean="0"/>
              <a:t>Interfaces </a:t>
            </a:r>
            <a:r>
              <a:rPr lang="en-US" sz="1500" dirty="0"/>
              <a:t>→ define object structure</a:t>
            </a:r>
          </a:p>
          <a:p>
            <a:pPr lvl="1"/>
            <a:r>
              <a:rPr lang="en-US" sz="1500" dirty="0"/>
              <a:t>Classes &amp; Objects → blueprint for components/services</a:t>
            </a:r>
          </a:p>
          <a:p>
            <a:pPr lvl="1"/>
            <a:r>
              <a:rPr lang="en-US" sz="1500" dirty="0"/>
              <a:t>Functions → with type annotations</a:t>
            </a:r>
          </a:p>
          <a:p>
            <a:pPr lvl="1"/>
            <a:r>
              <a:rPr lang="en-US" sz="1500" dirty="0"/>
              <a:t>Access Modifiers → public, private, protected</a:t>
            </a:r>
          </a:p>
          <a:p>
            <a:pPr lvl="1"/>
            <a:r>
              <a:rPr lang="en-US" sz="1500" dirty="0"/>
              <a:t>Generics → reusable, type-safe </a:t>
            </a:r>
            <a:r>
              <a:rPr lang="en-US" sz="1500" dirty="0" smtClean="0"/>
              <a:t>code</a:t>
            </a:r>
          </a:p>
          <a:p>
            <a:r>
              <a:rPr lang="en-GB" sz="1900" dirty="0"/>
              <a:t>JavaScript is dynamically typed → errors appear at runtime.</a:t>
            </a:r>
          </a:p>
          <a:p>
            <a:r>
              <a:rPr lang="en-GB" sz="1900" dirty="0" err="1"/>
              <a:t>TypeScript</a:t>
            </a:r>
            <a:r>
              <a:rPr lang="en-GB" sz="1900" dirty="0"/>
              <a:t> is statically typed → errors detected before execution.</a:t>
            </a:r>
            <a:endParaRPr lang="en-US" sz="1900" dirty="0"/>
          </a:p>
        </p:txBody>
      </p:sp>
    </p:spTree>
    <p:extLst>
      <p:ext uri="{BB962C8B-B14F-4D97-AF65-F5344CB8AC3E}">
        <p14:creationId xmlns:p14="http://schemas.microsoft.com/office/powerpoint/2010/main" val="1899620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Angular Architecture</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62500" lnSpcReduction="20000"/>
          </a:bodyPr>
          <a:lstStyle/>
          <a:p>
            <a:pPr marL="0" indent="0">
              <a:buNone/>
            </a:pPr>
            <a:r>
              <a:rPr lang="en-US" dirty="0">
                <a:ea typeface="Tahoma" panose="020B0604030504040204" pitchFamily="34" charset="0"/>
                <a:cs typeface="Tahoma" panose="020B0604030504040204" pitchFamily="34" charset="0"/>
              </a:rPr>
              <a:t>Modules.</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GB" dirty="0"/>
              <a:t>Angular apps are modular and organized into </a:t>
            </a:r>
            <a:r>
              <a:rPr lang="en-GB" dirty="0" err="1"/>
              <a:t>NgModules</a:t>
            </a:r>
            <a:r>
              <a:rPr lang="en-GB" dirty="0"/>
              <a:t>.</a:t>
            </a:r>
          </a:p>
          <a:p>
            <a:pPr marL="457200" indent="-457200">
              <a:buFont typeface="+mj-lt"/>
              <a:buAutoNum type="arabicPeriod"/>
            </a:pPr>
            <a:r>
              <a:rPr lang="en-GB" dirty="0"/>
              <a:t>A module is a container for components, directives, pipes, and services.</a:t>
            </a:r>
          </a:p>
          <a:p>
            <a:pPr marL="457200" indent="-457200">
              <a:buFont typeface="+mj-lt"/>
              <a:buAutoNum type="arabicPeriod"/>
            </a:pPr>
            <a:r>
              <a:rPr lang="en-GB" dirty="0"/>
              <a:t>Every Angular app has at least one root module → </a:t>
            </a:r>
            <a:r>
              <a:rPr lang="en-GB" dirty="0" err="1"/>
              <a:t>AppModule</a:t>
            </a:r>
            <a:r>
              <a:rPr lang="en-GB" dirty="0"/>
              <a:t>.</a:t>
            </a:r>
            <a:r>
              <a:rPr lang="en-US" dirty="0" smtClean="0"/>
              <a:t>.</a:t>
            </a:r>
          </a:p>
          <a:p>
            <a:pPr lvl="1"/>
            <a:r>
              <a:rPr lang="en-US" sz="2100" dirty="0"/>
              <a:t>Example (</a:t>
            </a:r>
            <a:r>
              <a:rPr lang="en-US" sz="2100" dirty="0" err="1"/>
              <a:t>app.module.ts</a:t>
            </a:r>
            <a:r>
              <a:rPr lang="en-US" sz="2100" dirty="0" smtClean="0"/>
              <a:t>):  </a:t>
            </a:r>
            <a:endParaRPr lang="en-US" sz="2100" dirty="0"/>
          </a:p>
          <a:p>
            <a:pPr marL="914400" lvl="2" indent="0">
              <a:buNone/>
            </a:pPr>
            <a:r>
              <a:rPr lang="en-US" sz="1900" dirty="0">
                <a:solidFill>
                  <a:srgbClr val="FFC000"/>
                </a:solidFill>
              </a:rPr>
              <a:t>import { </a:t>
            </a:r>
            <a:r>
              <a:rPr lang="en-US" sz="1900" dirty="0" err="1">
                <a:solidFill>
                  <a:srgbClr val="FFC000"/>
                </a:solidFill>
              </a:rPr>
              <a:t>NgModule</a:t>
            </a:r>
            <a:r>
              <a:rPr lang="en-US" sz="1900" dirty="0">
                <a:solidFill>
                  <a:srgbClr val="FFC000"/>
                </a:solidFill>
              </a:rPr>
              <a:t> } from '@angular/core';</a:t>
            </a:r>
          </a:p>
          <a:p>
            <a:pPr marL="914400" lvl="2" indent="0">
              <a:buNone/>
            </a:pPr>
            <a:r>
              <a:rPr lang="en-US" sz="1900" dirty="0" smtClean="0">
                <a:solidFill>
                  <a:srgbClr val="FFC000"/>
                </a:solidFill>
              </a:rPr>
              <a:t>import { </a:t>
            </a:r>
            <a:r>
              <a:rPr lang="en-US" sz="1900" dirty="0" err="1" smtClean="0">
                <a:solidFill>
                  <a:srgbClr val="FFC000"/>
                </a:solidFill>
              </a:rPr>
              <a:t>BrowserModule</a:t>
            </a:r>
            <a:r>
              <a:rPr lang="en-US" sz="1900" dirty="0" smtClean="0">
                <a:solidFill>
                  <a:srgbClr val="FFC000"/>
                </a:solidFill>
              </a:rPr>
              <a:t> } from '@angular/platform-browser';</a:t>
            </a:r>
          </a:p>
          <a:p>
            <a:pPr marL="914400" lvl="2" indent="0">
              <a:buNone/>
            </a:pPr>
            <a:r>
              <a:rPr lang="en-US" sz="1900" dirty="0" smtClean="0">
                <a:solidFill>
                  <a:srgbClr val="FFC000"/>
                </a:solidFill>
              </a:rPr>
              <a:t>import </a:t>
            </a:r>
            <a:r>
              <a:rPr lang="en-US" sz="1900" dirty="0">
                <a:solidFill>
                  <a:srgbClr val="FFC000"/>
                </a:solidFill>
              </a:rPr>
              <a:t>{ </a:t>
            </a:r>
            <a:r>
              <a:rPr lang="en-US" sz="1900" dirty="0" err="1">
                <a:solidFill>
                  <a:srgbClr val="FFC000"/>
                </a:solidFill>
              </a:rPr>
              <a:t>AppComponent</a:t>
            </a:r>
            <a:r>
              <a:rPr lang="en-US" sz="1900" dirty="0">
                <a:solidFill>
                  <a:srgbClr val="FFC000"/>
                </a:solidFill>
              </a:rPr>
              <a:t> } from './</a:t>
            </a:r>
            <a:r>
              <a:rPr lang="en-US" sz="1900" dirty="0" err="1">
                <a:solidFill>
                  <a:srgbClr val="FFC000"/>
                </a:solidFill>
              </a:rPr>
              <a:t>app.component</a:t>
            </a:r>
            <a:r>
              <a:rPr lang="en-US" sz="1900" dirty="0" smtClean="0">
                <a:solidFill>
                  <a:srgbClr val="FFC000"/>
                </a:solidFill>
              </a:rPr>
              <a:t>';</a:t>
            </a:r>
          </a:p>
          <a:p>
            <a:pPr marL="914400" lvl="2" indent="0">
              <a:buNone/>
            </a:pPr>
            <a:endParaRPr lang="en-US" sz="1900" dirty="0" smtClean="0">
              <a:solidFill>
                <a:srgbClr val="FFC000"/>
              </a:solidFill>
            </a:endParaRPr>
          </a:p>
          <a:p>
            <a:pPr marL="914400" lvl="2" indent="0">
              <a:buNone/>
            </a:pPr>
            <a:r>
              <a:rPr lang="en-US" sz="1900" dirty="0" smtClean="0">
                <a:solidFill>
                  <a:srgbClr val="FFC000"/>
                </a:solidFill>
              </a:rPr>
              <a:t>@</a:t>
            </a:r>
            <a:r>
              <a:rPr lang="en-US" sz="1900" dirty="0" err="1" smtClean="0">
                <a:solidFill>
                  <a:srgbClr val="FFC000"/>
                </a:solidFill>
              </a:rPr>
              <a:t>NgModule</a:t>
            </a:r>
            <a:r>
              <a:rPr lang="en-US" sz="1900" dirty="0" smtClean="0">
                <a:solidFill>
                  <a:srgbClr val="FFC000"/>
                </a:solidFill>
              </a:rPr>
              <a:t>({</a:t>
            </a:r>
          </a:p>
          <a:p>
            <a:pPr marL="914400" lvl="2" indent="0">
              <a:buNone/>
            </a:pPr>
            <a:r>
              <a:rPr lang="en-US" sz="1900" dirty="0" smtClean="0">
                <a:solidFill>
                  <a:srgbClr val="FFC000"/>
                </a:solidFill>
              </a:rPr>
              <a:t>  declarations: [</a:t>
            </a:r>
            <a:r>
              <a:rPr lang="en-US" sz="1900" dirty="0" err="1" smtClean="0">
                <a:solidFill>
                  <a:srgbClr val="FFC000"/>
                </a:solidFill>
              </a:rPr>
              <a:t>AppComponent</a:t>
            </a:r>
            <a:r>
              <a:rPr lang="en-US" sz="1900" dirty="0" smtClean="0">
                <a:solidFill>
                  <a:srgbClr val="FFC000"/>
                </a:solidFill>
              </a:rPr>
              <a:t>],  // Components, Directives, Pipes</a:t>
            </a:r>
          </a:p>
          <a:p>
            <a:pPr marL="914400" lvl="2" indent="0">
              <a:buNone/>
            </a:pPr>
            <a:r>
              <a:rPr lang="en-US" sz="1900" dirty="0" smtClean="0">
                <a:solidFill>
                  <a:srgbClr val="FFC000"/>
                </a:solidFill>
              </a:rPr>
              <a:t>  imports: [</a:t>
            </a:r>
            <a:r>
              <a:rPr lang="en-US" sz="1900" dirty="0" err="1" smtClean="0">
                <a:solidFill>
                  <a:srgbClr val="FFC000"/>
                </a:solidFill>
              </a:rPr>
              <a:t>BrowserModule</a:t>
            </a:r>
            <a:r>
              <a:rPr lang="en-US" sz="1900" dirty="0" smtClean="0">
                <a:solidFill>
                  <a:srgbClr val="FFC000"/>
                </a:solidFill>
              </a:rPr>
              <a:t>],      // Other modules</a:t>
            </a:r>
          </a:p>
          <a:p>
            <a:pPr marL="914400" lvl="2" indent="0">
              <a:buNone/>
            </a:pPr>
            <a:r>
              <a:rPr lang="en-US" sz="1900" dirty="0" smtClean="0">
                <a:solidFill>
                  <a:srgbClr val="FFC000"/>
                </a:solidFill>
              </a:rPr>
              <a:t>  providers: [],                 // Services</a:t>
            </a:r>
          </a:p>
          <a:p>
            <a:pPr marL="914400" lvl="2" indent="0">
              <a:buNone/>
            </a:pPr>
            <a:r>
              <a:rPr lang="en-US" sz="1900" dirty="0" smtClean="0">
                <a:solidFill>
                  <a:srgbClr val="FFC000"/>
                </a:solidFill>
              </a:rPr>
              <a:t>  bootstrap: [</a:t>
            </a:r>
            <a:r>
              <a:rPr lang="en-US" sz="1900" dirty="0" err="1" smtClean="0">
                <a:solidFill>
                  <a:srgbClr val="FFC000"/>
                </a:solidFill>
              </a:rPr>
              <a:t>AppComponent</a:t>
            </a:r>
            <a:r>
              <a:rPr lang="en-US" sz="1900" dirty="0" smtClean="0">
                <a:solidFill>
                  <a:srgbClr val="FFC000"/>
                </a:solidFill>
              </a:rPr>
              <a:t>]      // Root component</a:t>
            </a:r>
          </a:p>
          <a:p>
            <a:pPr marL="914400" lvl="2" indent="0">
              <a:buNone/>
            </a:pPr>
            <a:r>
              <a:rPr lang="en-US" sz="1900" dirty="0" smtClean="0">
                <a:solidFill>
                  <a:srgbClr val="FFC000"/>
                </a:solidFill>
              </a:rPr>
              <a:t>})</a:t>
            </a:r>
          </a:p>
          <a:p>
            <a:pPr marL="914400" lvl="2" indent="0">
              <a:buNone/>
            </a:pPr>
            <a:r>
              <a:rPr lang="en-US" sz="1900" dirty="0" smtClean="0">
                <a:solidFill>
                  <a:srgbClr val="FFC000"/>
                </a:solidFill>
              </a:rPr>
              <a:t>export class </a:t>
            </a:r>
            <a:r>
              <a:rPr lang="en-US" sz="1900" dirty="0" err="1" smtClean="0">
                <a:solidFill>
                  <a:srgbClr val="FFC000"/>
                </a:solidFill>
              </a:rPr>
              <a:t>AppModule</a:t>
            </a:r>
            <a:r>
              <a:rPr lang="en-US" sz="1900" dirty="0" smtClean="0">
                <a:solidFill>
                  <a:srgbClr val="FFC000"/>
                </a:solidFill>
              </a:rPr>
              <a:t> </a:t>
            </a:r>
            <a:r>
              <a:rPr lang="en-US" sz="1900" dirty="0" smtClean="0"/>
              <a:t>{}</a:t>
            </a:r>
            <a:endParaRPr lang="en-US" sz="2600" dirty="0"/>
          </a:p>
        </p:txBody>
      </p:sp>
    </p:spTree>
    <p:extLst>
      <p:ext uri="{BB962C8B-B14F-4D97-AF65-F5344CB8AC3E}">
        <p14:creationId xmlns:p14="http://schemas.microsoft.com/office/powerpoint/2010/main" val="914114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Angular Architecture</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62500" lnSpcReduction="20000"/>
          </a:bodyPr>
          <a:lstStyle/>
          <a:p>
            <a:pPr marL="0" indent="0">
              <a:buNone/>
            </a:pPr>
            <a:r>
              <a:rPr lang="en-US" dirty="0">
                <a:ea typeface="Tahoma" panose="020B0604030504040204" pitchFamily="34" charset="0"/>
                <a:cs typeface="Tahoma" panose="020B0604030504040204" pitchFamily="34" charset="0"/>
              </a:rPr>
              <a:t>Components.</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GB" dirty="0"/>
              <a:t>Components are the building blocks of Angular applications.</a:t>
            </a:r>
          </a:p>
          <a:p>
            <a:pPr marL="457200" indent="-457200">
              <a:buFont typeface="+mj-lt"/>
              <a:buAutoNum type="arabicPeriod"/>
            </a:pPr>
            <a:r>
              <a:rPr lang="en-GB" dirty="0"/>
              <a:t>Each component controls part of the UI with its own HTML, CSS, and </a:t>
            </a:r>
            <a:r>
              <a:rPr lang="en-GB" dirty="0" err="1"/>
              <a:t>TypeScript</a:t>
            </a:r>
            <a:r>
              <a:rPr lang="en-GB" dirty="0" smtClean="0"/>
              <a:t>.</a:t>
            </a:r>
          </a:p>
          <a:p>
            <a:pPr marL="457200" indent="-457200">
              <a:buFont typeface="+mj-lt"/>
              <a:buAutoNum type="arabicPeriod"/>
            </a:pPr>
            <a:r>
              <a:rPr lang="en-US" dirty="0"/>
              <a:t>ng generate component </a:t>
            </a:r>
            <a:r>
              <a:rPr lang="en-US" dirty="0" smtClean="0"/>
              <a:t>hello </a:t>
            </a:r>
            <a:endParaRPr lang="en-US" dirty="0" smtClean="0"/>
          </a:p>
          <a:p>
            <a:pPr lvl="1"/>
            <a:r>
              <a:rPr lang="en-US" sz="2100" dirty="0"/>
              <a:t>Example (</a:t>
            </a:r>
            <a:r>
              <a:rPr lang="en-US" sz="2100" dirty="0" err="1" smtClean="0"/>
              <a:t>app.component.ts</a:t>
            </a:r>
            <a:r>
              <a:rPr lang="en-US" sz="2100" dirty="0" smtClean="0"/>
              <a:t>):  </a:t>
            </a:r>
            <a:endParaRPr lang="en-US" sz="1900" dirty="0">
              <a:solidFill>
                <a:srgbClr val="FFC000"/>
              </a:solidFill>
            </a:endParaRPr>
          </a:p>
          <a:p>
            <a:pPr marL="914400" lvl="2" indent="0">
              <a:buNone/>
            </a:pPr>
            <a:r>
              <a:rPr lang="en-IN" sz="1900" dirty="0">
                <a:solidFill>
                  <a:srgbClr val="FFC000"/>
                </a:solidFill>
              </a:rPr>
              <a:t>import { Component } from '@angular/core</a:t>
            </a:r>
            <a:r>
              <a:rPr lang="en-IN" sz="1900" dirty="0">
                <a:solidFill>
                  <a:srgbClr val="FFC000"/>
                </a:solidFill>
              </a:rPr>
              <a:t>';</a:t>
            </a:r>
            <a:endParaRPr lang="en-US" sz="1900" dirty="0">
              <a:solidFill>
                <a:srgbClr val="FFC000"/>
              </a:solidFill>
            </a:endParaRPr>
          </a:p>
          <a:p>
            <a:pPr marL="914400" lvl="2" indent="0">
              <a:buNone/>
            </a:pPr>
            <a:r>
              <a:rPr lang="en-US" sz="1900" dirty="0" smtClean="0">
                <a:solidFill>
                  <a:srgbClr val="FFC000"/>
                </a:solidFill>
              </a:rPr>
              <a:t>@</a:t>
            </a:r>
            <a:r>
              <a:rPr lang="en-US" sz="1900" dirty="0">
                <a:solidFill>
                  <a:srgbClr val="FFC000"/>
                </a:solidFill>
              </a:rPr>
              <a:t>Component({</a:t>
            </a:r>
          </a:p>
          <a:p>
            <a:pPr marL="914400" lvl="2" indent="0">
              <a:buNone/>
            </a:pPr>
            <a:r>
              <a:rPr lang="en-US" sz="1900" dirty="0">
                <a:solidFill>
                  <a:srgbClr val="FFC000"/>
                </a:solidFill>
              </a:rPr>
              <a:t>  selector: 'app-hello',</a:t>
            </a:r>
          </a:p>
          <a:p>
            <a:pPr marL="914400" lvl="2" indent="0">
              <a:buNone/>
            </a:pPr>
            <a:r>
              <a:rPr lang="en-US" sz="1900" dirty="0">
                <a:solidFill>
                  <a:srgbClr val="FFC000"/>
                </a:solidFill>
              </a:rPr>
              <a:t>  template: `&lt;h2&gt;Hello Angular!&lt;/h2&gt;`,</a:t>
            </a:r>
          </a:p>
          <a:p>
            <a:pPr marL="914400" lvl="2" indent="0">
              <a:buNone/>
            </a:pPr>
            <a:r>
              <a:rPr lang="en-US" sz="1900" dirty="0">
                <a:solidFill>
                  <a:srgbClr val="FFC000"/>
                </a:solidFill>
              </a:rPr>
              <a:t>  styles: [`h2 { color: blue; }`]</a:t>
            </a:r>
          </a:p>
          <a:p>
            <a:pPr marL="914400" lvl="2" indent="0">
              <a:buNone/>
            </a:pPr>
            <a:r>
              <a:rPr lang="en-US" sz="1900" dirty="0">
                <a:solidFill>
                  <a:srgbClr val="FFC000"/>
                </a:solidFill>
              </a:rPr>
              <a:t>})</a:t>
            </a:r>
          </a:p>
          <a:p>
            <a:pPr marL="914400" lvl="2" indent="0">
              <a:buNone/>
            </a:pPr>
            <a:r>
              <a:rPr lang="en-US" sz="1900" dirty="0">
                <a:solidFill>
                  <a:srgbClr val="FFC000"/>
                </a:solidFill>
              </a:rPr>
              <a:t>export class </a:t>
            </a:r>
            <a:r>
              <a:rPr lang="en-US" sz="1900" dirty="0" err="1">
                <a:solidFill>
                  <a:srgbClr val="FFC000"/>
                </a:solidFill>
              </a:rPr>
              <a:t>HelloComponent</a:t>
            </a:r>
            <a:r>
              <a:rPr lang="en-US" sz="1900" dirty="0">
                <a:solidFill>
                  <a:srgbClr val="FFC000"/>
                </a:solidFill>
              </a:rPr>
              <a:t> </a:t>
            </a:r>
            <a:r>
              <a:rPr lang="en-US" sz="1900" dirty="0" smtClean="0">
                <a:solidFill>
                  <a:srgbClr val="FFC000"/>
                </a:solidFill>
              </a:rPr>
              <a:t>{}</a:t>
            </a:r>
          </a:p>
          <a:p>
            <a:pPr marL="914400" lvl="2" indent="0">
              <a:buNone/>
            </a:pPr>
            <a:endParaRPr lang="en-US" sz="1900" dirty="0">
              <a:solidFill>
                <a:srgbClr val="FFC000"/>
              </a:solidFill>
            </a:endParaRPr>
          </a:p>
          <a:p>
            <a:pPr lvl="1"/>
            <a:r>
              <a:rPr lang="en-US" sz="2300" dirty="0"/>
              <a:t>Usage in HTML:</a:t>
            </a:r>
          </a:p>
          <a:p>
            <a:pPr marL="914400" lvl="2" indent="0">
              <a:buNone/>
            </a:pPr>
            <a:endParaRPr lang="en-US" sz="1900" dirty="0">
              <a:solidFill>
                <a:srgbClr val="FFC000"/>
              </a:solidFill>
            </a:endParaRPr>
          </a:p>
          <a:p>
            <a:pPr marL="914400" lvl="2" indent="0">
              <a:buNone/>
            </a:pPr>
            <a:r>
              <a:rPr lang="en-US" sz="1900" dirty="0">
                <a:solidFill>
                  <a:srgbClr val="FFC000"/>
                </a:solidFill>
              </a:rPr>
              <a:t>&lt;app-hello&gt;&lt;/app-hello&gt;</a:t>
            </a:r>
            <a:endParaRPr lang="en-US" sz="2600" dirty="0"/>
          </a:p>
        </p:txBody>
      </p:sp>
    </p:spTree>
    <p:extLst>
      <p:ext uri="{BB962C8B-B14F-4D97-AF65-F5344CB8AC3E}">
        <p14:creationId xmlns:p14="http://schemas.microsoft.com/office/powerpoint/2010/main" val="1002729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Angular Architecture</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a:bodyPr>
          <a:lstStyle/>
          <a:p>
            <a:pPr marL="0" indent="0">
              <a:buNone/>
            </a:pPr>
            <a:r>
              <a:rPr lang="en-US" dirty="0">
                <a:ea typeface="Tahoma" panose="020B0604030504040204" pitchFamily="34" charset="0"/>
                <a:cs typeface="Tahoma" panose="020B0604030504040204" pitchFamily="34" charset="0"/>
              </a:rPr>
              <a:t>Templates.</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GB" dirty="0" smtClean="0"/>
              <a:t>A </a:t>
            </a:r>
            <a:r>
              <a:rPr lang="en-GB" dirty="0"/>
              <a:t>template is the HTML view that defines how the component is displayed.</a:t>
            </a:r>
          </a:p>
          <a:p>
            <a:pPr marL="457200" indent="-457200">
              <a:buFont typeface="+mj-lt"/>
              <a:buAutoNum type="arabicPeriod"/>
            </a:pPr>
            <a:r>
              <a:rPr lang="en-GB" dirty="0"/>
              <a:t>Can use data binding ({{ }}) and directives (*</a:t>
            </a:r>
            <a:r>
              <a:rPr lang="en-GB" dirty="0" err="1"/>
              <a:t>ngIf</a:t>
            </a:r>
            <a:r>
              <a:rPr lang="en-GB" dirty="0"/>
              <a:t>, *</a:t>
            </a:r>
            <a:r>
              <a:rPr lang="en-GB" dirty="0" err="1"/>
              <a:t>ngFor</a:t>
            </a:r>
            <a:r>
              <a:rPr lang="en-GB" dirty="0" smtClean="0"/>
              <a:t>).</a:t>
            </a:r>
          </a:p>
          <a:p>
            <a:pPr lvl="1"/>
            <a:r>
              <a:rPr lang="en-US" sz="2100" dirty="0" smtClean="0"/>
              <a:t>Example </a:t>
            </a:r>
            <a:r>
              <a:rPr lang="en-US" sz="2100" dirty="0"/>
              <a:t>(</a:t>
            </a:r>
            <a:r>
              <a:rPr lang="en-US" sz="2100" dirty="0" smtClean="0"/>
              <a:t>app.component.html):  </a:t>
            </a:r>
            <a:endParaRPr lang="en-US" sz="1900" dirty="0">
              <a:solidFill>
                <a:srgbClr val="FFC000"/>
              </a:solidFill>
            </a:endParaRPr>
          </a:p>
          <a:p>
            <a:pPr marL="914400" lvl="2" indent="0">
              <a:buNone/>
            </a:pPr>
            <a:r>
              <a:rPr lang="en-IN" sz="1900" dirty="0">
                <a:solidFill>
                  <a:srgbClr val="FFC000"/>
                </a:solidFill>
              </a:rPr>
              <a:t>&lt;h2&gt;Welcome, {{ username }}&lt;/h2&gt;</a:t>
            </a:r>
          </a:p>
          <a:p>
            <a:pPr marL="914400" lvl="2" indent="0">
              <a:buNone/>
            </a:pPr>
            <a:r>
              <a:rPr lang="en-IN" sz="1900" dirty="0" smtClean="0">
                <a:solidFill>
                  <a:srgbClr val="FFC000"/>
                </a:solidFill>
              </a:rPr>
              <a:t>&lt;</a:t>
            </a:r>
            <a:r>
              <a:rPr lang="en-IN" sz="1900" dirty="0" err="1">
                <a:solidFill>
                  <a:srgbClr val="FFC000"/>
                </a:solidFill>
              </a:rPr>
              <a:t>ul</a:t>
            </a:r>
            <a:r>
              <a:rPr lang="en-IN" sz="1900" dirty="0">
                <a:solidFill>
                  <a:srgbClr val="FFC000"/>
                </a:solidFill>
              </a:rPr>
              <a:t>&gt;</a:t>
            </a:r>
          </a:p>
          <a:p>
            <a:pPr marL="914400" lvl="2" indent="0">
              <a:buNone/>
            </a:pPr>
            <a:r>
              <a:rPr lang="en-IN" sz="1900" dirty="0">
                <a:solidFill>
                  <a:srgbClr val="FFC000"/>
                </a:solidFill>
              </a:rPr>
              <a:t>  </a:t>
            </a:r>
            <a:r>
              <a:rPr lang="en-IN" sz="1900" dirty="0" smtClean="0">
                <a:solidFill>
                  <a:srgbClr val="FFC000"/>
                </a:solidFill>
              </a:rPr>
              <a:t>	&lt;</a:t>
            </a:r>
            <a:r>
              <a:rPr lang="en-IN" sz="1900" dirty="0">
                <a:solidFill>
                  <a:srgbClr val="FFC000"/>
                </a:solidFill>
              </a:rPr>
              <a:t>li *</a:t>
            </a:r>
            <a:r>
              <a:rPr lang="en-IN" sz="1900" dirty="0" err="1">
                <a:solidFill>
                  <a:srgbClr val="FFC000"/>
                </a:solidFill>
              </a:rPr>
              <a:t>ngFor</a:t>
            </a:r>
            <a:r>
              <a:rPr lang="en-IN" sz="1900" dirty="0">
                <a:solidFill>
                  <a:srgbClr val="FFC000"/>
                </a:solidFill>
              </a:rPr>
              <a:t>="let item of items"&gt;{{ item }}&lt;/li&gt;</a:t>
            </a:r>
          </a:p>
          <a:p>
            <a:pPr marL="914400" lvl="2" indent="0">
              <a:buNone/>
            </a:pPr>
            <a:r>
              <a:rPr lang="en-IN" sz="1900" dirty="0" smtClean="0">
                <a:solidFill>
                  <a:srgbClr val="FFC000"/>
                </a:solidFill>
              </a:rPr>
              <a:t>&lt;/</a:t>
            </a:r>
            <a:r>
              <a:rPr lang="en-IN" sz="1900" dirty="0" err="1">
                <a:solidFill>
                  <a:srgbClr val="FFC000"/>
                </a:solidFill>
              </a:rPr>
              <a:t>ul</a:t>
            </a:r>
            <a:r>
              <a:rPr lang="en-IN" sz="1900" dirty="0">
                <a:solidFill>
                  <a:srgbClr val="FFC000"/>
                </a:solidFill>
              </a:rPr>
              <a:t>&gt;</a:t>
            </a:r>
            <a:endParaRPr lang="en-US" sz="2600" dirty="0"/>
          </a:p>
        </p:txBody>
      </p:sp>
    </p:spTree>
    <p:extLst>
      <p:ext uri="{BB962C8B-B14F-4D97-AF65-F5344CB8AC3E}">
        <p14:creationId xmlns:p14="http://schemas.microsoft.com/office/powerpoint/2010/main" val="3976447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Angular Architecture</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85000" lnSpcReduction="20000"/>
          </a:bodyPr>
          <a:lstStyle/>
          <a:p>
            <a:pPr marL="0" indent="0">
              <a:buNone/>
            </a:pPr>
            <a:r>
              <a:rPr lang="en-US" dirty="0">
                <a:ea typeface="Tahoma" panose="020B0604030504040204" pitchFamily="34" charset="0"/>
                <a:cs typeface="Tahoma" panose="020B0604030504040204" pitchFamily="34" charset="0"/>
              </a:rPr>
              <a:t>Metadata.</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GB" dirty="0"/>
              <a:t>Metadata tells Angular how to process a class.</a:t>
            </a:r>
          </a:p>
          <a:p>
            <a:pPr marL="457200" indent="-457200">
              <a:buFont typeface="+mj-lt"/>
              <a:buAutoNum type="arabicPeriod"/>
            </a:pPr>
            <a:r>
              <a:rPr lang="en-GB" dirty="0"/>
              <a:t>Defined using decorators like @Component, @</a:t>
            </a:r>
            <a:r>
              <a:rPr lang="en-GB" dirty="0" err="1"/>
              <a:t>NgModule</a:t>
            </a:r>
            <a:r>
              <a:rPr lang="en-GB" dirty="0"/>
              <a:t>, @Injectable..</a:t>
            </a:r>
            <a:endParaRPr lang="en-GB" dirty="0" smtClean="0"/>
          </a:p>
          <a:p>
            <a:pPr lvl="1"/>
            <a:r>
              <a:rPr lang="en-US" sz="2100" dirty="0"/>
              <a:t>Example (@Component metadata):  </a:t>
            </a:r>
            <a:endParaRPr lang="en-US" sz="1900" dirty="0">
              <a:solidFill>
                <a:srgbClr val="FFC000"/>
              </a:solidFill>
            </a:endParaRPr>
          </a:p>
          <a:p>
            <a:pPr marL="914400" lvl="2" indent="0">
              <a:buNone/>
            </a:pPr>
            <a:r>
              <a:rPr lang="en-IN" sz="1900" dirty="0">
                <a:solidFill>
                  <a:srgbClr val="FFC000"/>
                </a:solidFill>
              </a:rPr>
              <a:t>@Component({</a:t>
            </a:r>
          </a:p>
          <a:p>
            <a:pPr marL="914400" lvl="2" indent="0">
              <a:buNone/>
            </a:pPr>
            <a:r>
              <a:rPr lang="en-IN" sz="1900" dirty="0">
                <a:solidFill>
                  <a:srgbClr val="FFC000"/>
                </a:solidFill>
              </a:rPr>
              <a:t>  selector: 'app-user',</a:t>
            </a:r>
          </a:p>
          <a:p>
            <a:pPr marL="914400" lvl="2" indent="0">
              <a:buNone/>
            </a:pPr>
            <a:r>
              <a:rPr lang="en-IN" sz="1900" dirty="0">
                <a:solidFill>
                  <a:srgbClr val="FFC000"/>
                </a:solidFill>
              </a:rPr>
              <a:t>  </a:t>
            </a:r>
            <a:r>
              <a:rPr lang="en-IN" sz="1900" dirty="0" err="1">
                <a:solidFill>
                  <a:srgbClr val="FFC000"/>
                </a:solidFill>
              </a:rPr>
              <a:t>templateUrl</a:t>
            </a:r>
            <a:r>
              <a:rPr lang="en-IN" sz="1900" dirty="0">
                <a:solidFill>
                  <a:srgbClr val="FFC000"/>
                </a:solidFill>
              </a:rPr>
              <a:t>: './user.component.html',</a:t>
            </a:r>
          </a:p>
          <a:p>
            <a:pPr marL="914400" lvl="2" indent="0">
              <a:buNone/>
            </a:pPr>
            <a:r>
              <a:rPr lang="en-IN" sz="1900" dirty="0">
                <a:solidFill>
                  <a:srgbClr val="FFC000"/>
                </a:solidFill>
              </a:rPr>
              <a:t>  </a:t>
            </a:r>
            <a:r>
              <a:rPr lang="en-IN" sz="1900" dirty="0" err="1">
                <a:solidFill>
                  <a:srgbClr val="FFC000"/>
                </a:solidFill>
              </a:rPr>
              <a:t>styleUrls</a:t>
            </a:r>
            <a:r>
              <a:rPr lang="en-IN" sz="1900" dirty="0">
                <a:solidFill>
                  <a:srgbClr val="FFC000"/>
                </a:solidFill>
              </a:rPr>
              <a:t>: ['./user.component.css']</a:t>
            </a:r>
          </a:p>
          <a:p>
            <a:pPr marL="914400" lvl="2" indent="0">
              <a:buNone/>
            </a:pPr>
            <a:r>
              <a:rPr lang="en-IN" sz="1900" dirty="0" smtClean="0">
                <a:solidFill>
                  <a:srgbClr val="FFC000"/>
                </a:solidFill>
              </a:rPr>
              <a:t>})</a:t>
            </a:r>
          </a:p>
          <a:p>
            <a:pPr lvl="1"/>
            <a:r>
              <a:rPr lang="en-GB" sz="2800" dirty="0"/>
              <a:t>selector → HTML tag to use the component</a:t>
            </a:r>
          </a:p>
          <a:p>
            <a:pPr lvl="1"/>
            <a:r>
              <a:rPr lang="en-GB" sz="2800" dirty="0" err="1"/>
              <a:t>templateUrl</a:t>
            </a:r>
            <a:r>
              <a:rPr lang="en-GB" sz="2800" dirty="0"/>
              <a:t> → points to component’s HTML</a:t>
            </a:r>
          </a:p>
          <a:p>
            <a:pPr lvl="1"/>
            <a:r>
              <a:rPr lang="en-GB" sz="2800" dirty="0" err="1"/>
              <a:t>styleUrls</a:t>
            </a:r>
            <a:r>
              <a:rPr lang="en-GB" sz="2800" dirty="0"/>
              <a:t> → points to CSS file</a:t>
            </a:r>
            <a:endParaRPr lang="en-US" sz="2800" dirty="0"/>
          </a:p>
        </p:txBody>
      </p:sp>
    </p:spTree>
    <p:extLst>
      <p:ext uri="{BB962C8B-B14F-4D97-AF65-F5344CB8AC3E}">
        <p14:creationId xmlns:p14="http://schemas.microsoft.com/office/powerpoint/2010/main" val="3740993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Angular Architecture</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70000" lnSpcReduction="20000"/>
          </a:bodyPr>
          <a:lstStyle/>
          <a:p>
            <a:pPr marL="0" indent="0">
              <a:buNone/>
            </a:pPr>
            <a:r>
              <a:rPr lang="en-US" dirty="0">
                <a:ea typeface="Tahoma" panose="020B0604030504040204" pitchFamily="34" charset="0"/>
                <a:cs typeface="Tahoma" panose="020B0604030504040204" pitchFamily="34" charset="0"/>
              </a:rPr>
              <a:t>Bootstrap Process.</a:t>
            </a:r>
            <a:endParaRPr lang="en-US" dirty="0" smtClean="0">
              <a:ea typeface="Tahoma" panose="020B0604030504040204" pitchFamily="34" charset="0"/>
              <a:cs typeface="Tahoma" panose="020B0604030504040204" pitchFamily="34" charset="0"/>
            </a:endParaRPr>
          </a:p>
          <a:p>
            <a:pPr marL="457200" indent="-457200">
              <a:buFont typeface="+mj-lt"/>
              <a:buAutoNum type="arabicPeriod"/>
            </a:pPr>
            <a:r>
              <a:rPr lang="en-GB" dirty="0"/>
              <a:t>The bootstrap process is how Angular starts an application.</a:t>
            </a:r>
          </a:p>
          <a:p>
            <a:pPr marL="457200" indent="-457200">
              <a:buFont typeface="+mj-lt"/>
              <a:buAutoNum type="arabicPeriod"/>
            </a:pPr>
            <a:r>
              <a:rPr lang="en-GB" dirty="0"/>
              <a:t>Angular loads the root module (</a:t>
            </a:r>
            <a:r>
              <a:rPr lang="en-GB" dirty="0" err="1"/>
              <a:t>AppModule</a:t>
            </a:r>
            <a:r>
              <a:rPr lang="en-GB" dirty="0"/>
              <a:t>), then bootstraps the root component (</a:t>
            </a:r>
            <a:r>
              <a:rPr lang="en-GB" dirty="0" err="1"/>
              <a:t>AppComponent</a:t>
            </a:r>
            <a:r>
              <a:rPr lang="en-GB" dirty="0" smtClean="0"/>
              <a:t>).</a:t>
            </a:r>
          </a:p>
          <a:p>
            <a:pPr marL="457200" indent="-457200">
              <a:buFont typeface="+mj-lt"/>
              <a:buAutoNum type="arabicPeriod"/>
            </a:pPr>
            <a:r>
              <a:rPr lang="en-GB" dirty="0"/>
              <a:t>Flow</a:t>
            </a:r>
            <a:r>
              <a:rPr lang="en-GB" dirty="0" smtClean="0"/>
              <a:t>:</a:t>
            </a:r>
            <a:endParaRPr lang="en-GB" dirty="0"/>
          </a:p>
          <a:p>
            <a:pPr lvl="1"/>
            <a:r>
              <a:rPr lang="en-GB" dirty="0"/>
              <a:t>Browser loads index.html</a:t>
            </a:r>
          </a:p>
          <a:p>
            <a:pPr lvl="1"/>
            <a:r>
              <a:rPr lang="en-GB" dirty="0" err="1"/>
              <a:t>main.ts</a:t>
            </a:r>
            <a:r>
              <a:rPr lang="en-GB" dirty="0"/>
              <a:t> calls </a:t>
            </a:r>
            <a:r>
              <a:rPr lang="en-GB" dirty="0" err="1"/>
              <a:t>platformBrowserDynamic</a:t>
            </a:r>
            <a:r>
              <a:rPr lang="en-GB" dirty="0"/>
              <a:t>().</a:t>
            </a:r>
            <a:r>
              <a:rPr lang="en-GB" dirty="0" err="1"/>
              <a:t>bootstrapModule</a:t>
            </a:r>
            <a:r>
              <a:rPr lang="en-GB" dirty="0"/>
              <a:t>(</a:t>
            </a:r>
            <a:r>
              <a:rPr lang="en-GB" dirty="0" err="1"/>
              <a:t>AppModule</a:t>
            </a:r>
            <a:r>
              <a:rPr lang="en-GB" dirty="0"/>
              <a:t>)</a:t>
            </a:r>
          </a:p>
          <a:p>
            <a:pPr lvl="1"/>
            <a:r>
              <a:rPr lang="en-GB" dirty="0"/>
              <a:t>Angular loads </a:t>
            </a:r>
            <a:r>
              <a:rPr lang="en-GB" dirty="0" err="1"/>
              <a:t>AppModule</a:t>
            </a:r>
            <a:endParaRPr lang="en-GB" dirty="0"/>
          </a:p>
          <a:p>
            <a:pPr lvl="1"/>
            <a:r>
              <a:rPr lang="en-GB" dirty="0" err="1"/>
              <a:t>AppModule</a:t>
            </a:r>
            <a:r>
              <a:rPr lang="en-GB" dirty="0"/>
              <a:t> bootstraps </a:t>
            </a:r>
            <a:r>
              <a:rPr lang="en-GB" dirty="0" err="1"/>
              <a:t>AppComponent</a:t>
            </a:r>
            <a:endParaRPr lang="en-GB" dirty="0"/>
          </a:p>
          <a:p>
            <a:pPr lvl="1"/>
            <a:r>
              <a:rPr lang="en-GB" dirty="0" err="1"/>
              <a:t>AppComponent</a:t>
            </a:r>
            <a:r>
              <a:rPr lang="en-GB" dirty="0"/>
              <a:t> renders </a:t>
            </a:r>
            <a:r>
              <a:rPr lang="en-GB" dirty="0" smtClean="0"/>
              <a:t>the UI</a:t>
            </a:r>
          </a:p>
          <a:p>
            <a:pPr lvl="1"/>
            <a:r>
              <a:rPr lang="en-US" sz="2100" dirty="0"/>
              <a:t>Example </a:t>
            </a:r>
            <a:r>
              <a:rPr lang="en-US" sz="2100" dirty="0" smtClean="0"/>
              <a:t>(</a:t>
            </a:r>
            <a:r>
              <a:rPr lang="en-US" sz="2100" dirty="0" err="1" smtClean="0"/>
              <a:t>main.ts</a:t>
            </a:r>
            <a:r>
              <a:rPr lang="en-US" sz="2100" dirty="0" smtClean="0"/>
              <a:t>):  </a:t>
            </a:r>
            <a:endParaRPr lang="en-US" sz="1900" dirty="0">
              <a:solidFill>
                <a:srgbClr val="FFC000"/>
              </a:solidFill>
            </a:endParaRPr>
          </a:p>
          <a:p>
            <a:pPr marL="914400" lvl="2" indent="0">
              <a:buNone/>
            </a:pPr>
            <a:r>
              <a:rPr lang="en-IN" sz="1900" dirty="0">
                <a:solidFill>
                  <a:srgbClr val="FFC000"/>
                </a:solidFill>
              </a:rPr>
              <a:t>import { </a:t>
            </a:r>
            <a:r>
              <a:rPr lang="en-IN" sz="1900" dirty="0" err="1">
                <a:solidFill>
                  <a:srgbClr val="FFC000"/>
                </a:solidFill>
              </a:rPr>
              <a:t>platformBrowserDynamic</a:t>
            </a:r>
            <a:r>
              <a:rPr lang="en-IN" sz="1900" dirty="0">
                <a:solidFill>
                  <a:srgbClr val="FFC000"/>
                </a:solidFill>
              </a:rPr>
              <a:t> } from '@angular/platform-browser-dynamic';</a:t>
            </a:r>
          </a:p>
          <a:p>
            <a:pPr marL="914400" lvl="2" indent="0">
              <a:buNone/>
            </a:pPr>
            <a:r>
              <a:rPr lang="en-IN" sz="1900" dirty="0">
                <a:solidFill>
                  <a:srgbClr val="FFC000"/>
                </a:solidFill>
              </a:rPr>
              <a:t>import { </a:t>
            </a:r>
            <a:r>
              <a:rPr lang="en-IN" sz="1900" dirty="0" err="1">
                <a:solidFill>
                  <a:srgbClr val="FFC000"/>
                </a:solidFill>
              </a:rPr>
              <a:t>AppModule</a:t>
            </a:r>
            <a:r>
              <a:rPr lang="en-IN" sz="1900" dirty="0">
                <a:solidFill>
                  <a:srgbClr val="FFC000"/>
                </a:solidFill>
              </a:rPr>
              <a:t> } from './app/</a:t>
            </a:r>
            <a:r>
              <a:rPr lang="en-IN" sz="1900" dirty="0" err="1">
                <a:solidFill>
                  <a:srgbClr val="FFC000"/>
                </a:solidFill>
              </a:rPr>
              <a:t>app.module</a:t>
            </a:r>
            <a:r>
              <a:rPr lang="en-IN" sz="1900" dirty="0">
                <a:solidFill>
                  <a:srgbClr val="FFC000"/>
                </a:solidFill>
              </a:rPr>
              <a:t>';</a:t>
            </a:r>
          </a:p>
          <a:p>
            <a:pPr marL="914400" lvl="2" indent="0">
              <a:buNone/>
            </a:pPr>
            <a:endParaRPr lang="en-IN" sz="1900" dirty="0">
              <a:solidFill>
                <a:srgbClr val="FFC000"/>
              </a:solidFill>
            </a:endParaRPr>
          </a:p>
          <a:p>
            <a:pPr marL="914400" lvl="2" indent="0">
              <a:buNone/>
            </a:pPr>
            <a:r>
              <a:rPr lang="en-IN" sz="1900" dirty="0" err="1">
                <a:solidFill>
                  <a:srgbClr val="FFC000"/>
                </a:solidFill>
              </a:rPr>
              <a:t>platformBrowserDynamic</a:t>
            </a:r>
            <a:r>
              <a:rPr lang="en-IN" sz="1900" dirty="0">
                <a:solidFill>
                  <a:srgbClr val="FFC000"/>
                </a:solidFill>
              </a:rPr>
              <a:t>().</a:t>
            </a:r>
            <a:r>
              <a:rPr lang="en-IN" sz="1900" dirty="0" err="1">
                <a:solidFill>
                  <a:srgbClr val="FFC000"/>
                </a:solidFill>
              </a:rPr>
              <a:t>bootstrapModule</a:t>
            </a:r>
            <a:r>
              <a:rPr lang="en-IN" sz="1900" dirty="0">
                <a:solidFill>
                  <a:srgbClr val="FFC000"/>
                </a:solidFill>
              </a:rPr>
              <a:t>(</a:t>
            </a:r>
            <a:r>
              <a:rPr lang="en-IN" sz="1900" dirty="0" err="1">
                <a:solidFill>
                  <a:srgbClr val="FFC000"/>
                </a:solidFill>
              </a:rPr>
              <a:t>AppModule</a:t>
            </a:r>
            <a:r>
              <a:rPr lang="en-IN" sz="1900" dirty="0">
                <a:solidFill>
                  <a:srgbClr val="FFC000"/>
                </a:solidFill>
              </a:rPr>
              <a:t>)</a:t>
            </a:r>
          </a:p>
          <a:p>
            <a:pPr marL="914400" lvl="2" indent="0">
              <a:buNone/>
            </a:pPr>
            <a:r>
              <a:rPr lang="en-IN" sz="1900" dirty="0">
                <a:solidFill>
                  <a:srgbClr val="FFC000"/>
                </a:solidFill>
              </a:rPr>
              <a:t>  .catch(err =&gt; </a:t>
            </a:r>
            <a:r>
              <a:rPr lang="en-IN" sz="1900" dirty="0" err="1">
                <a:solidFill>
                  <a:srgbClr val="FFC000"/>
                </a:solidFill>
              </a:rPr>
              <a:t>console.error</a:t>
            </a:r>
            <a:r>
              <a:rPr lang="en-IN" sz="1900" dirty="0">
                <a:solidFill>
                  <a:srgbClr val="FFC000"/>
                </a:solidFill>
              </a:rPr>
              <a:t>(err</a:t>
            </a:r>
            <a:r>
              <a:rPr lang="en-IN" sz="1900" dirty="0" smtClean="0">
                <a:solidFill>
                  <a:srgbClr val="FFC000"/>
                </a:solidFill>
              </a:rPr>
              <a:t>));</a:t>
            </a:r>
          </a:p>
        </p:txBody>
      </p:sp>
    </p:spTree>
    <p:extLst>
      <p:ext uri="{BB962C8B-B14F-4D97-AF65-F5344CB8AC3E}">
        <p14:creationId xmlns:p14="http://schemas.microsoft.com/office/powerpoint/2010/main" val="3440516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3" y="0"/>
            <a:ext cx="9905998" cy="1478570"/>
          </a:xfrm>
        </p:spPr>
        <p:txBody>
          <a:bodyPr>
            <a:normAutofit/>
          </a:bodyPr>
          <a:lstStyle/>
          <a:p>
            <a:r>
              <a:rPr lang="en-IN" sz="4400" dirty="0"/>
              <a:t>Data Binding</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927840"/>
            <a:ext cx="9905999" cy="6700181"/>
          </a:xfrm>
        </p:spPr>
        <p:txBody>
          <a:bodyPr>
            <a:noAutofit/>
          </a:bodyPr>
          <a:lstStyle/>
          <a:p>
            <a:pPr marL="0" indent="0">
              <a:buNone/>
            </a:pPr>
            <a:r>
              <a:rPr lang="en-GB" sz="1800" dirty="0">
                <a:ea typeface="Tahoma" panose="020B0604030504040204" pitchFamily="34" charset="0"/>
                <a:cs typeface="Tahoma" panose="020B0604030504040204" pitchFamily="34" charset="0"/>
              </a:rPr>
              <a:t>Data binding is the connection between the component (</a:t>
            </a:r>
            <a:r>
              <a:rPr lang="en-GB" sz="1800" dirty="0" err="1">
                <a:ea typeface="Tahoma" panose="020B0604030504040204" pitchFamily="34" charset="0"/>
                <a:cs typeface="Tahoma" panose="020B0604030504040204" pitchFamily="34" charset="0"/>
              </a:rPr>
              <a:t>TypeScript</a:t>
            </a:r>
            <a:r>
              <a:rPr lang="en-GB" sz="1800" dirty="0">
                <a:ea typeface="Tahoma" panose="020B0604030504040204" pitchFamily="34" charset="0"/>
                <a:cs typeface="Tahoma" panose="020B0604030504040204" pitchFamily="34" charset="0"/>
              </a:rPr>
              <a:t> class) and the view (HTML template).</a:t>
            </a:r>
          </a:p>
          <a:p>
            <a:pPr marL="0" indent="0">
              <a:buNone/>
            </a:pPr>
            <a:r>
              <a:rPr lang="en-GB" sz="1800" dirty="0">
                <a:ea typeface="Tahoma" panose="020B0604030504040204" pitchFamily="34" charset="0"/>
                <a:cs typeface="Tahoma" panose="020B0604030504040204" pitchFamily="34" charset="0"/>
              </a:rPr>
              <a:t>It lets you display data, pass values, and handle events in Angular </a:t>
            </a:r>
            <a:r>
              <a:rPr lang="en-GB" sz="1800" dirty="0" smtClean="0">
                <a:ea typeface="Tahoma" panose="020B0604030504040204" pitchFamily="34" charset="0"/>
                <a:cs typeface="Tahoma" panose="020B0604030504040204" pitchFamily="34" charset="0"/>
              </a:rPr>
              <a:t>apps.</a:t>
            </a:r>
          </a:p>
          <a:p>
            <a:pPr marL="0" indent="0">
              <a:buNone/>
            </a:pPr>
            <a:r>
              <a:rPr lang="en-US" sz="1800" dirty="0">
                <a:ea typeface="Tahoma" panose="020B0604030504040204" pitchFamily="34" charset="0"/>
                <a:cs typeface="Tahoma" panose="020B0604030504040204" pitchFamily="34" charset="0"/>
              </a:rPr>
              <a:t>Types of Data Binding</a:t>
            </a:r>
            <a:endParaRPr lang="en-US" sz="1800" dirty="0" smtClean="0">
              <a:ea typeface="Tahoma" panose="020B0604030504040204" pitchFamily="34" charset="0"/>
              <a:cs typeface="Tahoma" panose="020B0604030504040204" pitchFamily="34" charset="0"/>
            </a:endParaRPr>
          </a:p>
          <a:p>
            <a:pPr marL="914400" lvl="1" indent="-457200">
              <a:buFont typeface="+mj-lt"/>
              <a:buAutoNum type="arabicPeriod"/>
            </a:pPr>
            <a:r>
              <a:rPr lang="en-GB" sz="1800" dirty="0"/>
              <a:t>Interpolation ({{ data </a:t>
            </a:r>
            <a:r>
              <a:rPr lang="en-GB" sz="1800" dirty="0" smtClean="0"/>
              <a:t>}})</a:t>
            </a:r>
          </a:p>
          <a:p>
            <a:pPr lvl="2"/>
            <a:r>
              <a:rPr lang="en-GB" dirty="0"/>
              <a:t>Used when you want to display dynamic data in HTML.</a:t>
            </a:r>
          </a:p>
          <a:p>
            <a:pPr lvl="2"/>
            <a:r>
              <a:rPr lang="en-GB" dirty="0"/>
              <a:t>It evaluates the expression inside {{ }} at runtime and replaces it with the result.</a:t>
            </a:r>
          </a:p>
          <a:p>
            <a:pPr lvl="2"/>
            <a:r>
              <a:rPr lang="en-GB" dirty="0"/>
              <a:t>Works only with string representation of values (numbers, strings, </a:t>
            </a:r>
            <a:r>
              <a:rPr lang="en-GB" dirty="0" err="1"/>
              <a:t>booleans</a:t>
            </a:r>
            <a:r>
              <a:rPr lang="en-GB" dirty="0"/>
              <a:t>).</a:t>
            </a:r>
          </a:p>
          <a:p>
            <a:pPr lvl="2"/>
            <a:r>
              <a:rPr lang="en-GB" dirty="0" smtClean="0"/>
              <a:t>Binds </a:t>
            </a:r>
            <a:r>
              <a:rPr lang="en-GB" dirty="0"/>
              <a:t>component data to HTML</a:t>
            </a:r>
            <a:r>
              <a:rPr lang="en-GB" dirty="0" smtClean="0"/>
              <a:t>.</a:t>
            </a:r>
          </a:p>
          <a:p>
            <a:pPr lvl="2"/>
            <a:r>
              <a:rPr lang="en-GB" dirty="0" smtClean="0"/>
              <a:t>HTML</a:t>
            </a:r>
          </a:p>
          <a:p>
            <a:pPr lvl="3"/>
            <a:r>
              <a:rPr lang="en-GB" sz="1800" dirty="0">
                <a:solidFill>
                  <a:srgbClr val="FFC000"/>
                </a:solidFill>
              </a:rPr>
              <a:t>&lt;h1&gt;{{ title }}&lt;/h1&gt;</a:t>
            </a:r>
          </a:p>
          <a:p>
            <a:pPr lvl="2"/>
            <a:r>
              <a:rPr lang="en-GB" dirty="0" smtClean="0"/>
              <a:t>TS	</a:t>
            </a:r>
          </a:p>
          <a:p>
            <a:pPr marL="1371600" lvl="3" indent="0">
              <a:buNone/>
            </a:pPr>
            <a:r>
              <a:rPr lang="en-GB" sz="1800" dirty="0">
                <a:solidFill>
                  <a:srgbClr val="FFC000"/>
                </a:solidFill>
              </a:rPr>
              <a:t>export class </a:t>
            </a:r>
            <a:r>
              <a:rPr lang="en-GB" sz="1800" dirty="0" err="1">
                <a:solidFill>
                  <a:srgbClr val="FFC000"/>
                </a:solidFill>
              </a:rPr>
              <a:t>AppComponent</a:t>
            </a:r>
            <a:r>
              <a:rPr lang="en-GB" sz="1800" dirty="0">
                <a:solidFill>
                  <a:srgbClr val="FFC000"/>
                </a:solidFill>
              </a:rPr>
              <a:t> {</a:t>
            </a:r>
          </a:p>
          <a:p>
            <a:pPr marL="1371600" lvl="3" indent="0">
              <a:buNone/>
            </a:pPr>
            <a:r>
              <a:rPr lang="en-GB" sz="1800" dirty="0" smtClean="0">
                <a:solidFill>
                  <a:srgbClr val="FFC000"/>
                </a:solidFill>
              </a:rPr>
              <a:t>  title = 'Welcome to Angular!';</a:t>
            </a:r>
          </a:p>
          <a:p>
            <a:pPr marL="1371600" lvl="3" indent="0">
              <a:buNone/>
            </a:pPr>
            <a:r>
              <a:rPr lang="en-GB" sz="1800" dirty="0" smtClean="0">
                <a:solidFill>
                  <a:srgbClr val="FFC000"/>
                </a:solidFill>
              </a:rPr>
              <a:t>}</a:t>
            </a:r>
          </a:p>
        </p:txBody>
      </p:sp>
    </p:spTree>
    <p:extLst>
      <p:ext uri="{BB962C8B-B14F-4D97-AF65-F5344CB8AC3E}">
        <p14:creationId xmlns:p14="http://schemas.microsoft.com/office/powerpoint/2010/main" val="736777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IN" sz="4400" dirty="0"/>
              <a:t>Data Binding</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lnSpcReduction="10000"/>
          </a:bodyPr>
          <a:lstStyle/>
          <a:p>
            <a:pPr marL="457200" lvl="1" indent="0">
              <a:buNone/>
            </a:pPr>
            <a:r>
              <a:rPr lang="en-GB" sz="2400" dirty="0" smtClean="0"/>
              <a:t>2</a:t>
            </a:r>
            <a:r>
              <a:rPr lang="en-GB" sz="2400" dirty="0"/>
              <a:t>. Property Binding ([property] = "value")</a:t>
            </a:r>
            <a:endParaRPr lang="en-GB" sz="2400" dirty="0" smtClean="0"/>
          </a:p>
          <a:p>
            <a:pPr lvl="2"/>
            <a:r>
              <a:rPr lang="en-GB" sz="2400" dirty="0"/>
              <a:t>Sets DOM property from </a:t>
            </a:r>
            <a:r>
              <a:rPr lang="en-GB" sz="2400" dirty="0" smtClean="0"/>
              <a:t>component.</a:t>
            </a:r>
          </a:p>
          <a:p>
            <a:pPr lvl="2"/>
            <a:r>
              <a:rPr lang="en-GB" sz="2400" dirty="0"/>
              <a:t>Used to set DOM element properties (not attributes).</a:t>
            </a:r>
          </a:p>
          <a:p>
            <a:pPr lvl="2"/>
            <a:r>
              <a:rPr lang="en-GB" sz="2400" dirty="0"/>
              <a:t>Ensures that values from the component are dynamically updated in the template.</a:t>
            </a:r>
          </a:p>
          <a:p>
            <a:pPr lvl="2"/>
            <a:r>
              <a:rPr lang="en-GB" sz="2400" dirty="0"/>
              <a:t>Useful for setting </a:t>
            </a:r>
            <a:r>
              <a:rPr lang="en-GB" sz="2400" dirty="0" err="1"/>
              <a:t>src</a:t>
            </a:r>
            <a:r>
              <a:rPr lang="en-GB" sz="2400" dirty="0"/>
              <a:t>, </a:t>
            </a:r>
            <a:r>
              <a:rPr lang="en-GB" sz="2400" dirty="0" err="1"/>
              <a:t>href</a:t>
            </a:r>
            <a:r>
              <a:rPr lang="en-GB" sz="2400" dirty="0"/>
              <a:t>, disabled, value, etc.</a:t>
            </a:r>
            <a:endParaRPr lang="en-GB" sz="2400" dirty="0" smtClean="0"/>
          </a:p>
          <a:p>
            <a:pPr lvl="2"/>
            <a:r>
              <a:rPr lang="en-GB" sz="2400" dirty="0"/>
              <a:t>HTML</a:t>
            </a:r>
          </a:p>
          <a:p>
            <a:pPr marL="1371600" lvl="3" indent="0">
              <a:buNone/>
            </a:pPr>
            <a:r>
              <a:rPr lang="en-GB" sz="2400" dirty="0">
                <a:solidFill>
                  <a:srgbClr val="FFC000"/>
                </a:solidFill>
              </a:rPr>
              <a:t>&lt;</a:t>
            </a:r>
            <a:r>
              <a:rPr lang="en-GB" sz="2400" dirty="0" err="1">
                <a:solidFill>
                  <a:srgbClr val="FFC000"/>
                </a:solidFill>
              </a:rPr>
              <a:t>img</a:t>
            </a:r>
            <a:r>
              <a:rPr lang="en-GB" sz="2400" dirty="0">
                <a:solidFill>
                  <a:srgbClr val="FFC000"/>
                </a:solidFill>
              </a:rPr>
              <a:t> [</a:t>
            </a:r>
            <a:r>
              <a:rPr lang="en-GB" sz="2400" dirty="0" err="1">
                <a:solidFill>
                  <a:srgbClr val="FFC000"/>
                </a:solidFill>
              </a:rPr>
              <a:t>src</a:t>
            </a:r>
            <a:r>
              <a:rPr lang="en-GB" sz="2400" dirty="0">
                <a:solidFill>
                  <a:srgbClr val="FFC000"/>
                </a:solidFill>
              </a:rPr>
              <a:t>]="</a:t>
            </a:r>
            <a:r>
              <a:rPr lang="en-GB" sz="2400" dirty="0" err="1">
                <a:solidFill>
                  <a:srgbClr val="FFC000"/>
                </a:solidFill>
              </a:rPr>
              <a:t>imageUrl</a:t>
            </a:r>
            <a:r>
              <a:rPr lang="en-GB" sz="2400" dirty="0" smtClean="0">
                <a:solidFill>
                  <a:srgbClr val="FFC000"/>
                </a:solidFill>
              </a:rPr>
              <a:t>"&gt;</a:t>
            </a:r>
          </a:p>
          <a:p>
            <a:pPr lvl="2"/>
            <a:r>
              <a:rPr lang="en-GB" sz="2400" dirty="0" smtClean="0"/>
              <a:t>TS</a:t>
            </a:r>
          </a:p>
          <a:p>
            <a:pPr marL="1371600" lvl="3" indent="0">
              <a:buNone/>
            </a:pPr>
            <a:r>
              <a:rPr lang="en-GB" sz="2400" dirty="0" err="1" smtClean="0">
                <a:solidFill>
                  <a:srgbClr val="FFC000"/>
                </a:solidFill>
              </a:rPr>
              <a:t>imageUrl</a:t>
            </a:r>
            <a:r>
              <a:rPr lang="en-GB" sz="2400" dirty="0" smtClean="0">
                <a:solidFill>
                  <a:srgbClr val="FFC000"/>
                </a:solidFill>
              </a:rPr>
              <a:t> </a:t>
            </a:r>
            <a:r>
              <a:rPr lang="en-GB" sz="2400" dirty="0">
                <a:solidFill>
                  <a:srgbClr val="FFC000"/>
                </a:solidFill>
              </a:rPr>
              <a:t>= 'assets/logo.png';</a:t>
            </a:r>
            <a:endParaRPr lang="en-GB" sz="2400" dirty="0">
              <a:solidFill>
                <a:srgbClr val="FFC000"/>
              </a:solidFill>
            </a:endParaRPr>
          </a:p>
        </p:txBody>
      </p:sp>
    </p:spTree>
    <p:extLst>
      <p:ext uri="{BB962C8B-B14F-4D97-AF65-F5344CB8AC3E}">
        <p14:creationId xmlns:p14="http://schemas.microsoft.com/office/powerpoint/2010/main" val="2598734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IN" sz="4400" dirty="0"/>
              <a:t>Data Binding</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92500" lnSpcReduction="20000"/>
          </a:bodyPr>
          <a:lstStyle/>
          <a:p>
            <a:pPr marL="457200" lvl="1" indent="0">
              <a:buNone/>
            </a:pPr>
            <a:r>
              <a:rPr lang="en-GB" sz="2400" dirty="0"/>
              <a:t>3</a:t>
            </a:r>
            <a:r>
              <a:rPr lang="en-GB" sz="2400" dirty="0" smtClean="0"/>
              <a:t>. </a:t>
            </a:r>
            <a:r>
              <a:rPr lang="en-GB" sz="2400" dirty="0"/>
              <a:t>Event Binding ((event)="handler()")</a:t>
            </a:r>
            <a:endParaRPr lang="en-GB" sz="2400" dirty="0" smtClean="0"/>
          </a:p>
          <a:p>
            <a:pPr lvl="2"/>
            <a:r>
              <a:rPr lang="en-GB" sz="2400" dirty="0"/>
              <a:t>Responds to user </a:t>
            </a:r>
            <a:r>
              <a:rPr lang="en-GB" sz="2400" dirty="0" smtClean="0"/>
              <a:t>actions.</a:t>
            </a:r>
            <a:endParaRPr lang="en-GB" sz="2400" dirty="0"/>
          </a:p>
          <a:p>
            <a:pPr lvl="2"/>
            <a:r>
              <a:rPr lang="en-GB" sz="2400" dirty="0"/>
              <a:t>Used to listen to user actions (events) like click, </a:t>
            </a:r>
            <a:r>
              <a:rPr lang="en-GB" sz="2400" dirty="0" err="1"/>
              <a:t>keyup</a:t>
            </a:r>
            <a:r>
              <a:rPr lang="en-GB" sz="2400" dirty="0"/>
              <a:t>, input, change, etc.</a:t>
            </a:r>
          </a:p>
          <a:p>
            <a:pPr lvl="2"/>
            <a:r>
              <a:rPr lang="en-GB" sz="2400" dirty="0"/>
              <a:t>Passes event data from template → component.</a:t>
            </a:r>
          </a:p>
          <a:p>
            <a:pPr lvl="2"/>
            <a:r>
              <a:rPr lang="en-GB" sz="2400" dirty="0"/>
              <a:t>Helps make the app interactive.</a:t>
            </a:r>
            <a:endParaRPr lang="en-GB" sz="2400" dirty="0" smtClean="0"/>
          </a:p>
          <a:p>
            <a:pPr lvl="2"/>
            <a:r>
              <a:rPr lang="en-GB" sz="2400" dirty="0"/>
              <a:t>HTML</a:t>
            </a:r>
          </a:p>
          <a:p>
            <a:pPr marL="1371600" lvl="3" indent="0">
              <a:buNone/>
            </a:pPr>
            <a:r>
              <a:rPr lang="en-GB" sz="2400" dirty="0">
                <a:solidFill>
                  <a:srgbClr val="FFC000"/>
                </a:solidFill>
              </a:rPr>
              <a:t>&lt;button (click)="</a:t>
            </a:r>
            <a:r>
              <a:rPr lang="en-GB" sz="2400" dirty="0" err="1">
                <a:solidFill>
                  <a:srgbClr val="FFC000"/>
                </a:solidFill>
              </a:rPr>
              <a:t>sayHello</a:t>
            </a:r>
            <a:r>
              <a:rPr lang="en-GB" sz="2400" dirty="0">
                <a:solidFill>
                  <a:srgbClr val="FFC000"/>
                </a:solidFill>
              </a:rPr>
              <a:t>()"&gt;Click Me&lt;/button&gt;</a:t>
            </a:r>
            <a:endParaRPr lang="en-GB" sz="2400" dirty="0" smtClean="0">
              <a:solidFill>
                <a:srgbClr val="FFC000"/>
              </a:solidFill>
            </a:endParaRPr>
          </a:p>
          <a:p>
            <a:pPr lvl="2"/>
            <a:r>
              <a:rPr lang="en-GB" sz="2400" dirty="0" smtClean="0"/>
              <a:t>TS</a:t>
            </a:r>
          </a:p>
          <a:p>
            <a:pPr marL="1371600" lvl="3" indent="0">
              <a:buNone/>
            </a:pPr>
            <a:r>
              <a:rPr lang="en-GB" sz="2400" dirty="0" err="1">
                <a:solidFill>
                  <a:srgbClr val="FFC000"/>
                </a:solidFill>
              </a:rPr>
              <a:t>sayHello</a:t>
            </a:r>
            <a:r>
              <a:rPr lang="en-GB" sz="2400" dirty="0">
                <a:solidFill>
                  <a:srgbClr val="FFC000"/>
                </a:solidFill>
              </a:rPr>
              <a:t>() {</a:t>
            </a:r>
          </a:p>
          <a:p>
            <a:pPr marL="1371600" lvl="3" indent="0">
              <a:buNone/>
            </a:pPr>
            <a:r>
              <a:rPr lang="en-GB" sz="2400" dirty="0">
                <a:solidFill>
                  <a:srgbClr val="FFC000"/>
                </a:solidFill>
              </a:rPr>
              <a:t>  alert('Hello Angular</a:t>
            </a:r>
            <a:r>
              <a:rPr lang="en-GB" sz="2400" dirty="0" smtClean="0">
                <a:solidFill>
                  <a:srgbClr val="FFC000"/>
                </a:solidFill>
              </a:rPr>
              <a:t>!');</a:t>
            </a:r>
          </a:p>
          <a:p>
            <a:pPr marL="1371600" lvl="3" indent="0">
              <a:buNone/>
            </a:pPr>
            <a:r>
              <a:rPr lang="en-GB" sz="2400" dirty="0">
                <a:solidFill>
                  <a:srgbClr val="FFC000"/>
                </a:solidFill>
              </a:rPr>
              <a:t>}</a:t>
            </a:r>
            <a:endParaRPr lang="en-GB" sz="2400" dirty="0" smtClean="0">
              <a:solidFill>
                <a:srgbClr val="FFC000"/>
              </a:solidFill>
            </a:endParaRPr>
          </a:p>
        </p:txBody>
      </p:sp>
    </p:spTree>
    <p:extLst>
      <p:ext uri="{BB962C8B-B14F-4D97-AF65-F5344CB8AC3E}">
        <p14:creationId xmlns:p14="http://schemas.microsoft.com/office/powerpoint/2010/main" val="3226457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IN" sz="4400" dirty="0"/>
              <a:t>Data Binding</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92500"/>
          </a:bodyPr>
          <a:lstStyle/>
          <a:p>
            <a:pPr marL="457200" lvl="1" indent="0">
              <a:buNone/>
            </a:pPr>
            <a:r>
              <a:rPr lang="en-GB" sz="2400" dirty="0" smtClean="0"/>
              <a:t>4</a:t>
            </a:r>
            <a:r>
              <a:rPr lang="en-GB" sz="2400" dirty="0"/>
              <a:t>. Two-way Binding ([(</a:t>
            </a:r>
            <a:r>
              <a:rPr lang="en-GB" sz="2400" dirty="0" err="1"/>
              <a:t>ngModel</a:t>
            </a:r>
            <a:r>
              <a:rPr lang="en-GB" sz="2400" dirty="0"/>
              <a:t>)] = "property")</a:t>
            </a:r>
            <a:endParaRPr lang="en-GB" sz="2400" dirty="0" smtClean="0"/>
          </a:p>
          <a:p>
            <a:pPr lvl="2"/>
            <a:r>
              <a:rPr lang="en-GB" sz="2400" dirty="0"/>
              <a:t>Syncs data between component &amp; </a:t>
            </a:r>
            <a:r>
              <a:rPr lang="en-GB" sz="2400" dirty="0" smtClean="0"/>
              <a:t>view.</a:t>
            </a:r>
          </a:p>
          <a:p>
            <a:pPr lvl="2"/>
            <a:r>
              <a:rPr lang="en-GB" sz="2400" dirty="0"/>
              <a:t>Combines Property Binding (data → view) and Event Binding (view → data</a:t>
            </a:r>
            <a:r>
              <a:rPr lang="en-GB" sz="2400" dirty="0" smtClean="0"/>
              <a:t>).</a:t>
            </a:r>
            <a:endParaRPr lang="en-GB" sz="2400" dirty="0"/>
          </a:p>
          <a:p>
            <a:pPr lvl="2"/>
            <a:r>
              <a:rPr lang="en-GB" sz="2400" dirty="0"/>
              <a:t>Needs </a:t>
            </a:r>
            <a:r>
              <a:rPr lang="en-GB" sz="2400" dirty="0" err="1"/>
              <a:t>FormsModule</a:t>
            </a:r>
            <a:r>
              <a:rPr lang="en-GB" sz="2400" dirty="0"/>
              <a:t> (must be imported in </a:t>
            </a:r>
            <a:r>
              <a:rPr lang="en-GB" sz="2400" dirty="0" err="1"/>
              <a:t>app.module.ts</a:t>
            </a:r>
            <a:r>
              <a:rPr lang="en-GB" sz="2400" dirty="0"/>
              <a:t>).</a:t>
            </a:r>
            <a:endParaRPr lang="en-GB" sz="2400" dirty="0" smtClean="0"/>
          </a:p>
          <a:p>
            <a:pPr lvl="2"/>
            <a:r>
              <a:rPr lang="en-GB" sz="2400" dirty="0"/>
              <a:t>HTML</a:t>
            </a:r>
          </a:p>
          <a:p>
            <a:pPr marL="1371600" lvl="3" indent="0">
              <a:buNone/>
            </a:pPr>
            <a:r>
              <a:rPr lang="en-GB" sz="2400" dirty="0">
                <a:solidFill>
                  <a:srgbClr val="FFC000"/>
                </a:solidFill>
              </a:rPr>
              <a:t>&lt;input [(</a:t>
            </a:r>
            <a:r>
              <a:rPr lang="en-GB" sz="2400" dirty="0" err="1">
                <a:solidFill>
                  <a:srgbClr val="FFC000"/>
                </a:solidFill>
              </a:rPr>
              <a:t>ngModel</a:t>
            </a:r>
            <a:r>
              <a:rPr lang="en-GB" sz="2400" dirty="0">
                <a:solidFill>
                  <a:srgbClr val="FFC000"/>
                </a:solidFill>
              </a:rPr>
              <a:t>)]="username"&gt;</a:t>
            </a:r>
          </a:p>
          <a:p>
            <a:pPr marL="1371600" lvl="3" indent="0">
              <a:buNone/>
            </a:pPr>
            <a:r>
              <a:rPr lang="en-GB" sz="2400" dirty="0">
                <a:solidFill>
                  <a:srgbClr val="FFC000"/>
                </a:solidFill>
              </a:rPr>
              <a:t>&lt;p&gt;Welcome, {{ username }}!&lt;/</a:t>
            </a:r>
            <a:r>
              <a:rPr lang="en-GB" sz="2400" dirty="0" smtClean="0">
                <a:solidFill>
                  <a:srgbClr val="FFC000"/>
                </a:solidFill>
              </a:rPr>
              <a:t>p&gt;</a:t>
            </a:r>
          </a:p>
          <a:p>
            <a:pPr lvl="2"/>
            <a:r>
              <a:rPr lang="en-GB" sz="2600" dirty="0"/>
              <a:t>TS</a:t>
            </a:r>
          </a:p>
          <a:p>
            <a:pPr marL="1371600" lvl="3" indent="0">
              <a:buNone/>
            </a:pPr>
            <a:r>
              <a:rPr lang="en-GB" sz="2400" dirty="0">
                <a:solidFill>
                  <a:srgbClr val="FFC000"/>
                </a:solidFill>
              </a:rPr>
              <a:t>username = '';</a:t>
            </a:r>
            <a:endParaRPr lang="en-GB" sz="2400" dirty="0" smtClean="0">
              <a:solidFill>
                <a:srgbClr val="FFC000"/>
              </a:solidFill>
            </a:endParaRPr>
          </a:p>
        </p:txBody>
      </p:sp>
    </p:spTree>
    <p:extLst>
      <p:ext uri="{BB962C8B-B14F-4D97-AF65-F5344CB8AC3E}">
        <p14:creationId xmlns:p14="http://schemas.microsoft.com/office/powerpoint/2010/main" val="1325924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IN" sz="4400" dirty="0"/>
              <a:t>Summary</a:t>
            </a:r>
            <a:r>
              <a:rPr lang="en-IN" sz="4400" dirty="0"/>
              <a:t> </a:t>
            </a:r>
            <a:r>
              <a:rPr lang="en-IN" sz="4400" dirty="0" smtClean="0"/>
              <a:t>Table (</a:t>
            </a:r>
            <a:r>
              <a:rPr lang="en-IN" sz="4400" dirty="0"/>
              <a:t>Data </a:t>
            </a:r>
            <a:r>
              <a:rPr lang="en-IN" sz="4400" dirty="0" smtClean="0"/>
              <a:t>Binding)</a:t>
            </a:r>
            <a:endParaRPr lang="en-US" sz="4400" dirty="0">
              <a:latin typeface="Rockwell" panose="02060603020205020403" pitchFamily="18" charset="0"/>
            </a:endParaRPr>
          </a:p>
        </p:txBody>
      </p:sp>
      <p:graphicFrame>
        <p:nvGraphicFramePr>
          <p:cNvPr id="4" name="Content Placeholder 3"/>
          <p:cNvGraphicFramePr>
            <a:graphicFrameLocks noGrp="1"/>
          </p:cNvGraphicFramePr>
          <p:nvPr>
            <p:ph idx="1"/>
          </p:nvPr>
        </p:nvGraphicFramePr>
        <p:xfrm>
          <a:off x="1141413" y="3168967"/>
          <a:ext cx="9906000" cy="2377440"/>
        </p:xfrm>
        <a:graphic>
          <a:graphicData uri="http://schemas.openxmlformats.org/drawingml/2006/table">
            <a:tbl>
              <a:tblPr/>
              <a:tblGrid>
                <a:gridCol w="2476500"/>
                <a:gridCol w="2476500"/>
                <a:gridCol w="2476500"/>
                <a:gridCol w="2476500"/>
              </a:tblGrid>
              <a:tr h="0">
                <a:tc>
                  <a:txBody>
                    <a:bodyPr/>
                    <a:lstStyle/>
                    <a:p>
                      <a:r>
                        <a:rPr lang="en-IN"/>
                        <a:t>Binding Type</a:t>
                      </a:r>
                    </a:p>
                  </a:txBody>
                  <a:tcPr anchor="ctr">
                    <a:lnL>
                      <a:noFill/>
                    </a:lnL>
                    <a:lnR>
                      <a:noFill/>
                    </a:lnR>
                    <a:lnT>
                      <a:noFill/>
                    </a:lnT>
                    <a:lnB>
                      <a:noFill/>
                    </a:lnB>
                  </a:tcPr>
                </a:tc>
                <a:tc>
                  <a:txBody>
                    <a:bodyPr/>
                    <a:lstStyle/>
                    <a:p>
                      <a:r>
                        <a:rPr lang="en-IN"/>
                        <a:t>Syntax</a:t>
                      </a:r>
                    </a:p>
                  </a:txBody>
                  <a:tcPr anchor="ctr">
                    <a:lnL>
                      <a:noFill/>
                    </a:lnL>
                    <a:lnR>
                      <a:noFill/>
                    </a:lnR>
                    <a:lnT>
                      <a:noFill/>
                    </a:lnT>
                    <a:lnB>
                      <a:noFill/>
                    </a:lnB>
                  </a:tcPr>
                </a:tc>
                <a:tc>
                  <a:txBody>
                    <a:bodyPr/>
                    <a:lstStyle/>
                    <a:p>
                      <a:r>
                        <a:rPr lang="en-IN"/>
                        <a:t>Direction</a:t>
                      </a:r>
                    </a:p>
                  </a:txBody>
                  <a:tcPr anchor="ctr">
                    <a:lnL>
                      <a:noFill/>
                    </a:lnL>
                    <a:lnR>
                      <a:noFill/>
                    </a:lnR>
                    <a:lnT>
                      <a:noFill/>
                    </a:lnT>
                    <a:lnB>
                      <a:noFill/>
                    </a:lnB>
                  </a:tcPr>
                </a:tc>
                <a:tc>
                  <a:txBody>
                    <a:bodyPr/>
                    <a:lstStyle/>
                    <a:p>
                      <a:r>
                        <a:rPr lang="en-IN"/>
                        <a:t>Use Case</a:t>
                      </a:r>
                    </a:p>
                  </a:txBody>
                  <a:tcPr anchor="ctr">
                    <a:lnL>
                      <a:noFill/>
                    </a:lnL>
                    <a:lnR>
                      <a:noFill/>
                    </a:lnR>
                    <a:lnT>
                      <a:noFill/>
                    </a:lnT>
                    <a:lnB>
                      <a:noFill/>
                    </a:lnB>
                  </a:tcPr>
                </a:tc>
              </a:tr>
              <a:tr h="0">
                <a:tc>
                  <a:txBody>
                    <a:bodyPr/>
                    <a:lstStyle/>
                    <a:p>
                      <a:r>
                        <a:rPr lang="en-IN" b="1"/>
                        <a:t>Interpolation</a:t>
                      </a:r>
                      <a:endParaRPr lang="en-IN"/>
                    </a:p>
                  </a:txBody>
                  <a:tcPr anchor="ctr">
                    <a:lnL>
                      <a:noFill/>
                    </a:lnL>
                    <a:lnR>
                      <a:noFill/>
                    </a:lnR>
                    <a:lnT>
                      <a:noFill/>
                    </a:lnT>
                    <a:lnB>
                      <a:noFill/>
                    </a:lnB>
                  </a:tcPr>
                </a:tc>
                <a:tc>
                  <a:txBody>
                    <a:bodyPr/>
                    <a:lstStyle/>
                    <a:p>
                      <a:r>
                        <a:rPr lang="en-IN"/>
                        <a:t>{{ data }}</a:t>
                      </a:r>
                    </a:p>
                  </a:txBody>
                  <a:tcPr anchor="ctr">
                    <a:lnL>
                      <a:noFill/>
                    </a:lnL>
                    <a:lnR>
                      <a:noFill/>
                    </a:lnR>
                    <a:lnT>
                      <a:noFill/>
                    </a:lnT>
                    <a:lnB>
                      <a:noFill/>
                    </a:lnB>
                  </a:tcPr>
                </a:tc>
                <a:tc>
                  <a:txBody>
                    <a:bodyPr/>
                    <a:lstStyle/>
                    <a:p>
                      <a:r>
                        <a:rPr lang="en-IN"/>
                        <a:t>Component → Template</a:t>
                      </a:r>
                    </a:p>
                  </a:txBody>
                  <a:tcPr anchor="ctr">
                    <a:lnL>
                      <a:noFill/>
                    </a:lnL>
                    <a:lnR>
                      <a:noFill/>
                    </a:lnR>
                    <a:lnT>
                      <a:noFill/>
                    </a:lnT>
                    <a:lnB>
                      <a:noFill/>
                    </a:lnB>
                  </a:tcPr>
                </a:tc>
                <a:tc>
                  <a:txBody>
                    <a:bodyPr/>
                    <a:lstStyle/>
                    <a:p>
                      <a:r>
                        <a:rPr lang="en-IN"/>
                        <a:t>Show dynamic text</a:t>
                      </a:r>
                    </a:p>
                  </a:txBody>
                  <a:tcPr anchor="ctr">
                    <a:lnL>
                      <a:noFill/>
                    </a:lnL>
                    <a:lnR>
                      <a:noFill/>
                    </a:lnR>
                    <a:lnT>
                      <a:noFill/>
                    </a:lnT>
                    <a:lnB>
                      <a:noFill/>
                    </a:lnB>
                  </a:tcPr>
                </a:tc>
              </a:tr>
              <a:tr h="0">
                <a:tc>
                  <a:txBody>
                    <a:bodyPr/>
                    <a:lstStyle/>
                    <a:p>
                      <a:r>
                        <a:rPr lang="en-IN" b="1"/>
                        <a:t>Property</a:t>
                      </a:r>
                      <a:endParaRPr lang="en-IN"/>
                    </a:p>
                  </a:txBody>
                  <a:tcPr anchor="ctr">
                    <a:lnL>
                      <a:noFill/>
                    </a:lnL>
                    <a:lnR>
                      <a:noFill/>
                    </a:lnR>
                    <a:lnT>
                      <a:noFill/>
                    </a:lnT>
                    <a:lnB>
                      <a:noFill/>
                    </a:lnB>
                  </a:tcPr>
                </a:tc>
                <a:tc>
                  <a:txBody>
                    <a:bodyPr/>
                    <a:lstStyle/>
                    <a:p>
                      <a:r>
                        <a:rPr lang="en-IN"/>
                        <a:t>[property]="value"</a:t>
                      </a:r>
                    </a:p>
                  </a:txBody>
                  <a:tcPr anchor="ctr">
                    <a:lnL>
                      <a:noFill/>
                    </a:lnL>
                    <a:lnR>
                      <a:noFill/>
                    </a:lnR>
                    <a:lnT>
                      <a:noFill/>
                    </a:lnT>
                    <a:lnB>
                      <a:noFill/>
                    </a:lnB>
                  </a:tcPr>
                </a:tc>
                <a:tc>
                  <a:txBody>
                    <a:bodyPr/>
                    <a:lstStyle/>
                    <a:p>
                      <a:r>
                        <a:rPr lang="en-IN"/>
                        <a:t>Component → DOM</a:t>
                      </a:r>
                    </a:p>
                  </a:txBody>
                  <a:tcPr anchor="ctr">
                    <a:lnL>
                      <a:noFill/>
                    </a:lnL>
                    <a:lnR>
                      <a:noFill/>
                    </a:lnR>
                    <a:lnT>
                      <a:noFill/>
                    </a:lnT>
                    <a:lnB>
                      <a:noFill/>
                    </a:lnB>
                  </a:tcPr>
                </a:tc>
                <a:tc>
                  <a:txBody>
                    <a:bodyPr/>
                    <a:lstStyle/>
                    <a:p>
                      <a:r>
                        <a:rPr lang="en-IN"/>
                        <a:t>Set properties (src, disabled)</a:t>
                      </a:r>
                    </a:p>
                  </a:txBody>
                  <a:tcPr anchor="ctr">
                    <a:lnL>
                      <a:noFill/>
                    </a:lnL>
                    <a:lnR>
                      <a:noFill/>
                    </a:lnR>
                    <a:lnT>
                      <a:noFill/>
                    </a:lnT>
                    <a:lnB>
                      <a:noFill/>
                    </a:lnB>
                  </a:tcPr>
                </a:tc>
              </a:tr>
              <a:tr h="0">
                <a:tc>
                  <a:txBody>
                    <a:bodyPr/>
                    <a:lstStyle/>
                    <a:p>
                      <a:r>
                        <a:rPr lang="en-IN" b="1"/>
                        <a:t>Event</a:t>
                      </a:r>
                      <a:endParaRPr lang="en-IN"/>
                    </a:p>
                  </a:txBody>
                  <a:tcPr anchor="ctr">
                    <a:lnL>
                      <a:noFill/>
                    </a:lnL>
                    <a:lnR>
                      <a:noFill/>
                    </a:lnR>
                    <a:lnT>
                      <a:noFill/>
                    </a:lnT>
                    <a:lnB>
                      <a:noFill/>
                    </a:lnB>
                  </a:tcPr>
                </a:tc>
                <a:tc>
                  <a:txBody>
                    <a:bodyPr/>
                    <a:lstStyle/>
                    <a:p>
                      <a:r>
                        <a:rPr lang="en-IN"/>
                        <a:t>(event)="handler()"</a:t>
                      </a:r>
                    </a:p>
                  </a:txBody>
                  <a:tcPr anchor="ctr">
                    <a:lnL>
                      <a:noFill/>
                    </a:lnL>
                    <a:lnR>
                      <a:noFill/>
                    </a:lnR>
                    <a:lnT>
                      <a:noFill/>
                    </a:lnT>
                    <a:lnB>
                      <a:noFill/>
                    </a:lnB>
                  </a:tcPr>
                </a:tc>
                <a:tc>
                  <a:txBody>
                    <a:bodyPr/>
                    <a:lstStyle/>
                    <a:p>
                      <a:r>
                        <a:rPr lang="en-IN"/>
                        <a:t>Template → Component</a:t>
                      </a:r>
                    </a:p>
                  </a:txBody>
                  <a:tcPr anchor="ctr">
                    <a:lnL>
                      <a:noFill/>
                    </a:lnL>
                    <a:lnR>
                      <a:noFill/>
                    </a:lnR>
                    <a:lnT>
                      <a:noFill/>
                    </a:lnT>
                    <a:lnB>
                      <a:noFill/>
                    </a:lnB>
                  </a:tcPr>
                </a:tc>
                <a:tc>
                  <a:txBody>
                    <a:bodyPr/>
                    <a:lstStyle/>
                    <a:p>
                      <a:r>
                        <a:rPr lang="en-IN"/>
                        <a:t>Handle user events (click, keyup)</a:t>
                      </a:r>
                    </a:p>
                  </a:txBody>
                  <a:tcPr anchor="ctr">
                    <a:lnL>
                      <a:noFill/>
                    </a:lnL>
                    <a:lnR>
                      <a:noFill/>
                    </a:lnR>
                    <a:lnT>
                      <a:noFill/>
                    </a:lnT>
                    <a:lnB>
                      <a:noFill/>
                    </a:lnB>
                  </a:tcPr>
                </a:tc>
              </a:tr>
              <a:tr h="0">
                <a:tc>
                  <a:txBody>
                    <a:bodyPr/>
                    <a:lstStyle/>
                    <a:p>
                      <a:r>
                        <a:rPr lang="en-IN" b="1"/>
                        <a:t>Two-way</a:t>
                      </a:r>
                      <a:endParaRPr lang="en-IN"/>
                    </a:p>
                  </a:txBody>
                  <a:tcPr anchor="ctr">
                    <a:lnL>
                      <a:noFill/>
                    </a:lnL>
                    <a:lnR>
                      <a:noFill/>
                    </a:lnR>
                    <a:lnT>
                      <a:noFill/>
                    </a:lnT>
                    <a:lnB>
                      <a:noFill/>
                    </a:lnB>
                  </a:tcPr>
                </a:tc>
                <a:tc>
                  <a:txBody>
                    <a:bodyPr/>
                    <a:lstStyle/>
                    <a:p>
                      <a:r>
                        <a:rPr lang="en-IN"/>
                        <a:t>[(ngModel)]="prop"</a:t>
                      </a:r>
                    </a:p>
                  </a:txBody>
                  <a:tcPr anchor="ctr">
                    <a:lnL>
                      <a:noFill/>
                    </a:lnL>
                    <a:lnR>
                      <a:noFill/>
                    </a:lnR>
                    <a:lnT>
                      <a:noFill/>
                    </a:lnT>
                    <a:lnB>
                      <a:noFill/>
                    </a:lnB>
                  </a:tcPr>
                </a:tc>
                <a:tc>
                  <a:txBody>
                    <a:bodyPr/>
                    <a:lstStyle/>
                    <a:p>
                      <a:r>
                        <a:rPr lang="en-IN"/>
                        <a:t>Both ways</a:t>
                      </a:r>
                    </a:p>
                  </a:txBody>
                  <a:tcPr anchor="ctr">
                    <a:lnL>
                      <a:noFill/>
                    </a:lnL>
                    <a:lnR>
                      <a:noFill/>
                    </a:lnR>
                    <a:lnT>
                      <a:noFill/>
                    </a:lnT>
                    <a:lnB>
                      <a:noFill/>
                    </a:lnB>
                  </a:tcPr>
                </a:tc>
                <a:tc>
                  <a:txBody>
                    <a:bodyPr/>
                    <a:lstStyle/>
                    <a:p>
                      <a:r>
                        <a:rPr lang="en-IN" dirty="0"/>
                        <a:t>Forms, input fields</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51550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p:txBody>
          <a:bodyPr>
            <a:normAutofit/>
          </a:bodyPr>
          <a:lstStyle/>
          <a:p>
            <a:r>
              <a:rPr lang="en-US" sz="4400" dirty="0">
                <a:latin typeface="Rockwell" panose="02060603020205020403" pitchFamily="18" charset="0"/>
              </a:rPr>
              <a:t>Installing Bootstrap</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141412" y="2034746"/>
            <a:ext cx="9905999" cy="4646139"/>
          </a:xfrm>
        </p:spPr>
        <p:txBody>
          <a:bodyPr>
            <a:normAutofit fontScale="70000" lnSpcReduction="20000"/>
          </a:bodyPr>
          <a:lstStyle/>
          <a:p>
            <a:pPr marL="914400" lvl="1" indent="-457200">
              <a:buAutoNum type="arabicPeriod"/>
            </a:pPr>
            <a:r>
              <a:rPr lang="en-GB" sz="2400" dirty="0" smtClean="0"/>
              <a:t>Install </a:t>
            </a:r>
            <a:r>
              <a:rPr lang="en-GB" sz="2400" dirty="0"/>
              <a:t>Bootstrap via </a:t>
            </a:r>
            <a:r>
              <a:rPr lang="en-GB" sz="2400" dirty="0" smtClean="0"/>
              <a:t>NPM</a:t>
            </a:r>
          </a:p>
          <a:p>
            <a:pPr marL="914400" lvl="2" indent="0">
              <a:buNone/>
            </a:pPr>
            <a:r>
              <a:rPr lang="en-GB" sz="2200" dirty="0">
                <a:solidFill>
                  <a:srgbClr val="FFC000"/>
                </a:solidFill>
              </a:rPr>
              <a:t>npm install </a:t>
            </a:r>
            <a:r>
              <a:rPr lang="en-GB" sz="2200" dirty="0" smtClean="0">
                <a:solidFill>
                  <a:srgbClr val="FFC000"/>
                </a:solidFill>
              </a:rPr>
              <a:t>bootstrap</a:t>
            </a:r>
          </a:p>
          <a:p>
            <a:pPr marL="914400" lvl="1" indent="-457200">
              <a:buAutoNum type="arabicPeriod" startAt="2"/>
            </a:pPr>
            <a:r>
              <a:rPr lang="en-GB" sz="2400" dirty="0" smtClean="0"/>
              <a:t>Add Bootstrap </a:t>
            </a:r>
            <a:r>
              <a:rPr lang="en-GB" sz="2400" dirty="0"/>
              <a:t>CSS in </a:t>
            </a:r>
            <a:r>
              <a:rPr lang="en-GB" sz="2400" dirty="0" err="1" smtClean="0"/>
              <a:t>angular.json</a:t>
            </a:r>
            <a:endParaRPr lang="en-GB" sz="2400" dirty="0" smtClean="0"/>
          </a:p>
          <a:p>
            <a:pPr marL="914400" lvl="2" indent="0">
              <a:buNone/>
            </a:pPr>
            <a:r>
              <a:rPr lang="en-GB" sz="2200" dirty="0"/>
              <a:t>Open </a:t>
            </a:r>
            <a:r>
              <a:rPr lang="en-GB" sz="2200" dirty="0" err="1"/>
              <a:t>angular.json</a:t>
            </a:r>
            <a:r>
              <a:rPr lang="en-GB" sz="2200" dirty="0"/>
              <a:t> and add Bootstrap CSS under the styles section</a:t>
            </a:r>
            <a:r>
              <a:rPr lang="en-GB" sz="2200" dirty="0" smtClean="0"/>
              <a:t>:</a:t>
            </a:r>
            <a:endParaRPr lang="en-GB" sz="2200" dirty="0"/>
          </a:p>
          <a:p>
            <a:pPr marL="1371600" lvl="3" indent="0">
              <a:buNone/>
            </a:pPr>
            <a:r>
              <a:rPr lang="en-GB" sz="2000" dirty="0">
                <a:solidFill>
                  <a:srgbClr val="FFC000"/>
                </a:solidFill>
              </a:rPr>
              <a:t>"styles": [</a:t>
            </a:r>
          </a:p>
          <a:p>
            <a:pPr marL="1371600" lvl="3" indent="0">
              <a:buNone/>
            </a:pPr>
            <a:r>
              <a:rPr lang="en-GB" sz="2000" dirty="0">
                <a:solidFill>
                  <a:srgbClr val="FFC000"/>
                </a:solidFill>
              </a:rPr>
              <a:t>  "</a:t>
            </a:r>
            <a:r>
              <a:rPr lang="en-GB" sz="2000" dirty="0" err="1">
                <a:solidFill>
                  <a:srgbClr val="FFC000"/>
                </a:solidFill>
              </a:rPr>
              <a:t>node_modules</a:t>
            </a:r>
            <a:r>
              <a:rPr lang="en-GB" sz="2000" dirty="0">
                <a:solidFill>
                  <a:srgbClr val="FFC000"/>
                </a:solidFill>
              </a:rPr>
              <a:t>/bootstrap/</a:t>
            </a:r>
            <a:r>
              <a:rPr lang="en-GB" sz="2000" dirty="0" err="1">
                <a:solidFill>
                  <a:srgbClr val="FFC000"/>
                </a:solidFill>
              </a:rPr>
              <a:t>dist</a:t>
            </a:r>
            <a:r>
              <a:rPr lang="en-GB" sz="2000" dirty="0">
                <a:solidFill>
                  <a:srgbClr val="FFC000"/>
                </a:solidFill>
              </a:rPr>
              <a:t>/</a:t>
            </a:r>
            <a:r>
              <a:rPr lang="en-GB" sz="2000" dirty="0" err="1">
                <a:solidFill>
                  <a:srgbClr val="FFC000"/>
                </a:solidFill>
              </a:rPr>
              <a:t>css</a:t>
            </a:r>
            <a:r>
              <a:rPr lang="en-GB" sz="2000" dirty="0">
                <a:solidFill>
                  <a:srgbClr val="FFC000"/>
                </a:solidFill>
              </a:rPr>
              <a:t>/bootstrap.min.css",</a:t>
            </a:r>
          </a:p>
          <a:p>
            <a:pPr marL="1371600" lvl="3" indent="0">
              <a:buNone/>
            </a:pPr>
            <a:r>
              <a:rPr lang="en-GB" sz="2000" dirty="0">
                <a:solidFill>
                  <a:srgbClr val="FFC000"/>
                </a:solidFill>
              </a:rPr>
              <a:t>  "</a:t>
            </a:r>
            <a:r>
              <a:rPr lang="en-GB" sz="2000" dirty="0" err="1">
                <a:solidFill>
                  <a:srgbClr val="FFC000"/>
                </a:solidFill>
              </a:rPr>
              <a:t>src</a:t>
            </a:r>
            <a:r>
              <a:rPr lang="en-GB" sz="2000" dirty="0">
                <a:solidFill>
                  <a:srgbClr val="FFC000"/>
                </a:solidFill>
              </a:rPr>
              <a:t>/styles.css"</a:t>
            </a:r>
          </a:p>
          <a:p>
            <a:pPr marL="1371600" lvl="3" indent="0">
              <a:buNone/>
            </a:pPr>
            <a:r>
              <a:rPr lang="en-GB" sz="2000" dirty="0">
                <a:solidFill>
                  <a:srgbClr val="FFC000"/>
                </a:solidFill>
              </a:rPr>
              <a:t>],</a:t>
            </a:r>
          </a:p>
          <a:p>
            <a:pPr marL="1371600" lvl="3" indent="0">
              <a:buNone/>
            </a:pPr>
            <a:r>
              <a:rPr lang="en-GB" sz="2000" dirty="0">
                <a:solidFill>
                  <a:srgbClr val="FFC000"/>
                </a:solidFill>
              </a:rPr>
              <a:t>"scripts": [</a:t>
            </a:r>
          </a:p>
          <a:p>
            <a:pPr marL="1371600" lvl="3" indent="0">
              <a:buNone/>
            </a:pPr>
            <a:r>
              <a:rPr lang="en-GB" sz="2000" dirty="0">
                <a:solidFill>
                  <a:srgbClr val="FFC000"/>
                </a:solidFill>
              </a:rPr>
              <a:t>  "</a:t>
            </a:r>
            <a:r>
              <a:rPr lang="en-GB" sz="2000" dirty="0" err="1">
                <a:solidFill>
                  <a:srgbClr val="FFC000"/>
                </a:solidFill>
              </a:rPr>
              <a:t>node_modules</a:t>
            </a:r>
            <a:r>
              <a:rPr lang="en-GB" sz="2000" dirty="0">
                <a:solidFill>
                  <a:srgbClr val="FFC000"/>
                </a:solidFill>
              </a:rPr>
              <a:t>/bootstrap/</a:t>
            </a:r>
            <a:r>
              <a:rPr lang="en-GB" sz="2000" dirty="0" err="1">
                <a:solidFill>
                  <a:srgbClr val="FFC000"/>
                </a:solidFill>
              </a:rPr>
              <a:t>dist</a:t>
            </a:r>
            <a:r>
              <a:rPr lang="en-GB" sz="2000" dirty="0">
                <a:solidFill>
                  <a:srgbClr val="FFC000"/>
                </a:solidFill>
              </a:rPr>
              <a:t>/</a:t>
            </a:r>
            <a:r>
              <a:rPr lang="en-GB" sz="2000" dirty="0" err="1">
                <a:solidFill>
                  <a:srgbClr val="FFC000"/>
                </a:solidFill>
              </a:rPr>
              <a:t>js</a:t>
            </a:r>
            <a:r>
              <a:rPr lang="en-GB" sz="2000" dirty="0">
                <a:solidFill>
                  <a:srgbClr val="FFC000"/>
                </a:solidFill>
              </a:rPr>
              <a:t>/bootstrap.bundle.min.js"</a:t>
            </a:r>
          </a:p>
          <a:p>
            <a:pPr marL="1371600" lvl="3" indent="0">
              <a:buNone/>
            </a:pPr>
            <a:r>
              <a:rPr lang="en-GB" sz="2000" dirty="0" smtClean="0">
                <a:solidFill>
                  <a:srgbClr val="FFC000"/>
                </a:solidFill>
              </a:rPr>
              <a:t>]</a:t>
            </a:r>
          </a:p>
          <a:p>
            <a:pPr marL="457200" lvl="1" indent="0">
              <a:buNone/>
            </a:pPr>
            <a:r>
              <a:rPr lang="en-GB" sz="2400" dirty="0"/>
              <a:t>&lt;!-- Bootstrap CSS --&gt;</a:t>
            </a:r>
          </a:p>
          <a:p>
            <a:pPr marL="914400" lvl="2" indent="0">
              <a:buNone/>
            </a:pPr>
            <a:r>
              <a:rPr lang="en-GB" sz="2200" dirty="0" smtClean="0"/>
              <a:t> </a:t>
            </a:r>
            <a:r>
              <a:rPr lang="en-GB" sz="2200" dirty="0">
                <a:solidFill>
                  <a:srgbClr val="FFC000"/>
                </a:solidFill>
              </a:rPr>
              <a:t>&lt;link </a:t>
            </a:r>
            <a:r>
              <a:rPr lang="en-GB" sz="2200" dirty="0" err="1">
                <a:solidFill>
                  <a:srgbClr val="FFC000"/>
                </a:solidFill>
              </a:rPr>
              <a:t>href</a:t>
            </a:r>
            <a:r>
              <a:rPr lang="en-GB" sz="2200" dirty="0">
                <a:solidFill>
                  <a:srgbClr val="FFC000"/>
                </a:solidFill>
              </a:rPr>
              <a:t>="https://cdn.jsdelivr.net/npm/bootstrap@5.3.3/</a:t>
            </a:r>
            <a:r>
              <a:rPr lang="en-GB" sz="2200" dirty="0" err="1">
                <a:solidFill>
                  <a:srgbClr val="FFC000"/>
                </a:solidFill>
              </a:rPr>
              <a:t>dist</a:t>
            </a:r>
            <a:r>
              <a:rPr lang="en-GB" sz="2200" dirty="0">
                <a:solidFill>
                  <a:srgbClr val="FFC000"/>
                </a:solidFill>
              </a:rPr>
              <a:t>/</a:t>
            </a:r>
            <a:r>
              <a:rPr lang="en-GB" sz="2200" dirty="0" err="1">
                <a:solidFill>
                  <a:srgbClr val="FFC000"/>
                </a:solidFill>
              </a:rPr>
              <a:t>css</a:t>
            </a:r>
            <a:r>
              <a:rPr lang="en-GB" sz="2200" dirty="0">
                <a:solidFill>
                  <a:srgbClr val="FFC000"/>
                </a:solidFill>
              </a:rPr>
              <a:t>/bootstrap.min.css" </a:t>
            </a:r>
            <a:r>
              <a:rPr lang="en-GB" sz="2200" dirty="0" err="1">
                <a:solidFill>
                  <a:srgbClr val="FFC000"/>
                </a:solidFill>
              </a:rPr>
              <a:t>rel</a:t>
            </a:r>
            <a:r>
              <a:rPr lang="en-GB" sz="2200" dirty="0">
                <a:solidFill>
                  <a:srgbClr val="FFC000"/>
                </a:solidFill>
              </a:rPr>
              <a:t>="stylesheet"&gt;</a:t>
            </a:r>
          </a:p>
          <a:p>
            <a:pPr marL="457200" lvl="1" indent="0">
              <a:buNone/>
            </a:pPr>
            <a:r>
              <a:rPr lang="en-GB" sz="2400" dirty="0" smtClean="0"/>
              <a:t>&lt;!-- </a:t>
            </a:r>
            <a:r>
              <a:rPr lang="en-GB" sz="2400" dirty="0"/>
              <a:t>Bootstrap JS Bundle (with Popper) --&gt;</a:t>
            </a:r>
          </a:p>
          <a:p>
            <a:pPr marL="914400" lvl="2" indent="0">
              <a:buNone/>
            </a:pPr>
            <a:r>
              <a:rPr lang="en-GB" sz="2200" dirty="0" smtClean="0">
                <a:solidFill>
                  <a:srgbClr val="FFC000"/>
                </a:solidFill>
              </a:rPr>
              <a:t>&lt;</a:t>
            </a:r>
            <a:r>
              <a:rPr lang="en-GB" sz="2200" dirty="0">
                <a:solidFill>
                  <a:srgbClr val="FFC000"/>
                </a:solidFill>
              </a:rPr>
              <a:t>script </a:t>
            </a:r>
            <a:r>
              <a:rPr lang="en-GB" sz="2200" dirty="0" err="1">
                <a:solidFill>
                  <a:srgbClr val="FFC000"/>
                </a:solidFill>
              </a:rPr>
              <a:t>src</a:t>
            </a:r>
            <a:r>
              <a:rPr lang="en-GB" sz="2200" dirty="0">
                <a:solidFill>
                  <a:srgbClr val="FFC000"/>
                </a:solidFill>
              </a:rPr>
              <a:t>="https://cdn.jsdelivr.net/npm/bootstrap@5.3.3/</a:t>
            </a:r>
            <a:r>
              <a:rPr lang="en-GB" sz="2200" dirty="0" err="1">
                <a:solidFill>
                  <a:srgbClr val="FFC000"/>
                </a:solidFill>
              </a:rPr>
              <a:t>dist</a:t>
            </a:r>
            <a:r>
              <a:rPr lang="en-GB" sz="2200" dirty="0">
                <a:solidFill>
                  <a:srgbClr val="FFC000"/>
                </a:solidFill>
              </a:rPr>
              <a:t>/</a:t>
            </a:r>
            <a:r>
              <a:rPr lang="en-GB" sz="2200" dirty="0" err="1">
                <a:solidFill>
                  <a:srgbClr val="FFC000"/>
                </a:solidFill>
              </a:rPr>
              <a:t>js</a:t>
            </a:r>
            <a:r>
              <a:rPr lang="en-GB" sz="2200" dirty="0">
                <a:solidFill>
                  <a:srgbClr val="FFC000"/>
                </a:solidFill>
              </a:rPr>
              <a:t>/bootstrap.bundle.min.js</a:t>
            </a:r>
            <a:r>
              <a:rPr lang="en-GB" sz="2200" dirty="0" smtClean="0">
                <a:solidFill>
                  <a:srgbClr val="FFC000"/>
                </a:solidFill>
              </a:rPr>
              <a:t>"&gt;&lt;/script&gt;</a:t>
            </a:r>
            <a:endParaRPr lang="en-GB" sz="2200" dirty="0">
              <a:solidFill>
                <a:srgbClr val="FFC000"/>
              </a:solidFill>
            </a:endParaRPr>
          </a:p>
        </p:txBody>
      </p:sp>
    </p:spTree>
    <p:extLst>
      <p:ext uri="{BB962C8B-B14F-4D97-AF65-F5344CB8AC3E}">
        <p14:creationId xmlns:p14="http://schemas.microsoft.com/office/powerpoint/2010/main" val="3015870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a:latin typeface="Rockwell" panose="02060603020205020403" pitchFamily="18" charset="0"/>
              </a:rPr>
              <a:t>Angular Router</a:t>
            </a: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fontScale="92500" lnSpcReduction="10000"/>
          </a:bodyPr>
          <a:lstStyle/>
          <a:p>
            <a:pPr marL="0" indent="0">
              <a:buNone/>
            </a:pPr>
            <a:r>
              <a:rPr lang="en-US" dirty="0" smtClean="0"/>
              <a:t>Angular Router </a:t>
            </a:r>
            <a:r>
              <a:rPr lang="en-US" dirty="0"/>
              <a:t>is a powerful module in Angular that enables navigation between different views or components within a single-page application (SPA). It allows you to map URLs to components so users can navigate the app just like a multi-page website, but without full page </a:t>
            </a:r>
            <a:r>
              <a:rPr lang="en-US" dirty="0" smtClean="0"/>
              <a:t>reloads</a:t>
            </a:r>
          </a:p>
          <a:p>
            <a:pPr marL="0" indent="0">
              <a:buNone/>
            </a:pPr>
            <a:r>
              <a:rPr lang="en-US" dirty="0"/>
              <a:t>With Angular Router, you </a:t>
            </a:r>
            <a:r>
              <a:rPr lang="en-US" dirty="0" smtClean="0"/>
              <a:t>can</a:t>
            </a:r>
          </a:p>
          <a:p>
            <a:pPr lvl="1"/>
            <a:r>
              <a:rPr lang="en-US" dirty="0"/>
              <a:t>Define routes and map them to components.</a:t>
            </a:r>
          </a:p>
          <a:p>
            <a:pPr lvl="1"/>
            <a:r>
              <a:rPr lang="en-US" dirty="0"/>
              <a:t>Pass parameters in URLs.</a:t>
            </a:r>
          </a:p>
          <a:p>
            <a:pPr lvl="1"/>
            <a:r>
              <a:rPr lang="en-US" dirty="0"/>
              <a:t>Protect routes with guards.</a:t>
            </a:r>
          </a:p>
          <a:p>
            <a:pPr lvl="1"/>
            <a:r>
              <a:rPr lang="en-US" dirty="0"/>
              <a:t>Lazy load modules.</a:t>
            </a:r>
          </a:p>
          <a:p>
            <a:pPr lvl="1"/>
            <a:r>
              <a:rPr lang="en-US" dirty="0"/>
              <a:t>Navigate programmatically.</a:t>
            </a:r>
          </a:p>
          <a:p>
            <a:pPr lvl="1"/>
            <a:r>
              <a:rPr lang="en-US" dirty="0"/>
              <a:t>Manage browser history and URLs</a:t>
            </a:r>
            <a:r>
              <a:rPr lang="en-US" dirty="0" smtClean="0"/>
              <a:t>.</a:t>
            </a:r>
          </a:p>
          <a:p>
            <a:pPr lvl="1"/>
            <a:r>
              <a:rPr lang="en-US" dirty="0"/>
              <a:t>The &lt;router-outlet&gt; acts as a placeholder where the routed component will render</a:t>
            </a:r>
            <a:r>
              <a:rPr lang="en-US" dirty="0" smtClean="0"/>
              <a:t>.</a:t>
            </a:r>
            <a:endParaRPr lang="en-US" dirty="0"/>
          </a:p>
          <a:p>
            <a:pPr lvl="1"/>
            <a:r>
              <a:rPr lang="en-US" dirty="0"/>
              <a:t>&lt;a </a:t>
            </a:r>
            <a:r>
              <a:rPr lang="en-US" dirty="0" err="1"/>
              <a:t>routerLink</a:t>
            </a:r>
            <a:r>
              <a:rPr lang="en-US" dirty="0"/>
              <a:t>="..."&gt; is used to navigate without reloading the page</a:t>
            </a:r>
            <a:endParaRPr lang="en-US" dirty="0" smtClean="0"/>
          </a:p>
          <a:p>
            <a:pPr marL="0" indent="0">
              <a:buNone/>
            </a:pPr>
            <a:endParaRPr lang="en-US" dirty="0" smtClean="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63507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IN" sz="4400" dirty="0"/>
              <a:t>Constructor</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pPr marL="457200" indent="-457200">
              <a:buFont typeface="+mj-lt"/>
              <a:buAutoNum type="arabicPeriod"/>
            </a:pPr>
            <a:r>
              <a:rPr lang="en-GB" dirty="0"/>
              <a:t>Purpose</a:t>
            </a:r>
            <a:r>
              <a:rPr lang="en-GB" dirty="0" smtClean="0"/>
              <a:t>:</a:t>
            </a:r>
            <a:endParaRPr lang="en-GB" dirty="0"/>
          </a:p>
          <a:p>
            <a:pPr lvl="1"/>
            <a:r>
              <a:rPr lang="en-GB" dirty="0"/>
              <a:t>A </a:t>
            </a:r>
            <a:r>
              <a:rPr lang="en-GB" dirty="0" err="1"/>
              <a:t>TypeScript</a:t>
            </a:r>
            <a:r>
              <a:rPr lang="en-GB" dirty="0"/>
              <a:t> feature (not Angular-specific</a:t>
            </a:r>
            <a:r>
              <a:rPr lang="en-GB" dirty="0" smtClean="0"/>
              <a:t>).</a:t>
            </a:r>
            <a:endParaRPr lang="en-GB" dirty="0"/>
          </a:p>
          <a:p>
            <a:pPr lvl="1"/>
            <a:r>
              <a:rPr lang="en-GB" dirty="0"/>
              <a:t>Called when the class is instantiated (before Angular initializes the component lifecycle</a:t>
            </a:r>
            <a:r>
              <a:rPr lang="en-GB" dirty="0" smtClean="0"/>
              <a:t>).</a:t>
            </a:r>
            <a:endParaRPr lang="en-GB" dirty="0"/>
          </a:p>
          <a:p>
            <a:pPr lvl="1"/>
            <a:r>
              <a:rPr lang="en-GB" dirty="0"/>
              <a:t>Used to inject dependencies (services, router, etc.) into the component.</a:t>
            </a:r>
          </a:p>
          <a:p>
            <a:pPr marL="457200" indent="-457200">
              <a:buFont typeface="+mj-lt"/>
              <a:buAutoNum type="arabicPeriod"/>
            </a:pPr>
            <a:r>
              <a:rPr lang="en-GB" dirty="0" smtClean="0"/>
              <a:t>When </a:t>
            </a:r>
            <a:r>
              <a:rPr lang="en-GB" dirty="0"/>
              <a:t>it runs</a:t>
            </a:r>
            <a:r>
              <a:rPr lang="en-GB" dirty="0" smtClean="0"/>
              <a:t>:</a:t>
            </a:r>
            <a:endParaRPr lang="en-GB" dirty="0"/>
          </a:p>
          <a:p>
            <a:pPr lvl="1"/>
            <a:r>
              <a:rPr lang="en-GB" dirty="0"/>
              <a:t>Runs immediately when the component is created</a:t>
            </a:r>
            <a:r>
              <a:rPr lang="en-GB" dirty="0" smtClean="0"/>
              <a:t>.</a:t>
            </a:r>
            <a:endParaRPr lang="en-GB" dirty="0"/>
          </a:p>
          <a:p>
            <a:pPr lvl="1"/>
            <a:r>
              <a:rPr lang="en-GB" dirty="0"/>
              <a:t>Before Angular sets input properties or runs lifecycle hooks</a:t>
            </a:r>
            <a:r>
              <a:rPr lang="en-GB" dirty="0" smtClean="0"/>
              <a:t>.</a:t>
            </a:r>
            <a:endParaRPr lang="en-GB" dirty="0"/>
          </a:p>
          <a:p>
            <a:pPr marL="457200" indent="-457200">
              <a:buFont typeface="+mj-lt"/>
              <a:buAutoNum type="arabicPeriod"/>
            </a:pPr>
            <a:r>
              <a:rPr lang="en-GB" dirty="0"/>
              <a:t>Good for</a:t>
            </a:r>
            <a:r>
              <a:rPr lang="en-GB" dirty="0" smtClean="0"/>
              <a:t>:</a:t>
            </a:r>
            <a:endParaRPr lang="en-GB" dirty="0"/>
          </a:p>
          <a:p>
            <a:pPr lvl="1"/>
            <a:r>
              <a:rPr lang="en-GB" dirty="0" smtClean="0"/>
              <a:t>Dependency Injection (DI)</a:t>
            </a:r>
          </a:p>
          <a:p>
            <a:pPr lvl="1"/>
            <a:r>
              <a:rPr lang="en-GB" dirty="0" smtClean="0"/>
              <a:t>Initializing simple variables</a:t>
            </a:r>
          </a:p>
          <a:p>
            <a:pPr lvl="1"/>
            <a:r>
              <a:rPr lang="en-GB" dirty="0" smtClean="0"/>
              <a:t>Preparing objects you always need in the class</a:t>
            </a:r>
            <a:endParaRPr lang="en-US" dirty="0" smtClean="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33310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a:latin typeface="Rockwell" panose="02060603020205020403" pitchFamily="18" charset="0"/>
              </a:rPr>
              <a:t>Component Lifecycle</a:t>
            </a: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fontScale="62500" lnSpcReduction="20000"/>
          </a:bodyPr>
          <a:lstStyle/>
          <a:p>
            <a:pPr marL="0" indent="0">
              <a:buNone/>
            </a:pPr>
            <a:r>
              <a:rPr lang="en-US" dirty="0">
                <a:ea typeface="Tahoma" panose="020B0604030504040204" pitchFamily="34" charset="0"/>
                <a:cs typeface="Tahoma" panose="020B0604030504040204" pitchFamily="34" charset="0"/>
              </a:rPr>
              <a:t>The Component Lifecycle in Angular refers to the sequence of events or phases that a component goes through from its creation to its destruction. Understanding this lifecycle is essential for building efficient and maintainable Angular applications because it allows you to hook into specific points in a component's existence to add custom logic, such as fetching data, performing cleanup, or reacting to changes</a:t>
            </a:r>
            <a:r>
              <a:rPr lang="en-US" dirty="0" smtClean="0">
                <a:ea typeface="Tahoma" panose="020B0604030504040204" pitchFamily="34" charset="0"/>
                <a:cs typeface="Tahoma" panose="020B0604030504040204" pitchFamily="34" charset="0"/>
              </a:rPr>
              <a:t>.</a:t>
            </a:r>
            <a:endParaRPr lang="en-US" dirty="0">
              <a:ea typeface="Tahoma" panose="020B0604030504040204" pitchFamily="34" charset="0"/>
              <a:cs typeface="Tahoma" panose="020B0604030504040204" pitchFamily="34" charset="0"/>
            </a:endParaRPr>
          </a:p>
          <a:p>
            <a:pPr marL="0" indent="0">
              <a:buNone/>
            </a:pPr>
            <a:r>
              <a:rPr lang="en-US" dirty="0">
                <a:ea typeface="Tahoma" panose="020B0604030504040204" pitchFamily="34" charset="0"/>
                <a:cs typeface="Tahoma" panose="020B0604030504040204" pitchFamily="34" charset="0"/>
              </a:rPr>
              <a:t>Angular provides lifecycle hooks for developers to tap into these events and control how components behave during their lifecycle</a:t>
            </a:r>
            <a:r>
              <a:rPr lang="en-US" dirty="0" smtClean="0">
                <a:ea typeface="Tahoma" panose="020B0604030504040204" pitchFamily="34" charset="0"/>
                <a:cs typeface="Tahoma" panose="020B0604030504040204" pitchFamily="34" charset="0"/>
              </a:rPr>
              <a:t>.</a:t>
            </a:r>
          </a:p>
          <a:p>
            <a:r>
              <a:rPr lang="en-US" dirty="0">
                <a:ea typeface="Tahoma" panose="020B0604030504040204" pitchFamily="34" charset="0"/>
                <a:cs typeface="Tahoma" panose="020B0604030504040204" pitchFamily="34" charset="0"/>
              </a:rPr>
              <a:t>Key Lifecycle Phases</a:t>
            </a:r>
          </a:p>
          <a:p>
            <a:pPr marL="914400" lvl="1" indent="-457200">
              <a:buFont typeface="+mj-lt"/>
              <a:buAutoNum type="arabicPeriod"/>
            </a:pPr>
            <a:r>
              <a:rPr lang="en-US" dirty="0">
                <a:solidFill>
                  <a:srgbClr val="FFFF00"/>
                </a:solidFill>
                <a:ea typeface="Tahoma" panose="020B0604030504040204" pitchFamily="34" charset="0"/>
                <a:cs typeface="Tahoma" panose="020B0604030504040204" pitchFamily="34" charset="0"/>
              </a:rPr>
              <a:t>Creation Phase</a:t>
            </a:r>
            <a:r>
              <a:rPr lang="en-US" dirty="0">
                <a:ea typeface="Tahoma" panose="020B0604030504040204" pitchFamily="34" charset="0"/>
                <a:cs typeface="Tahoma" panose="020B0604030504040204" pitchFamily="34" charset="0"/>
              </a:rPr>
              <a:t>: The component is instantiated, and Angular sets up the component's view and its input properties.</a:t>
            </a:r>
          </a:p>
          <a:p>
            <a:pPr marL="914400" lvl="1" indent="-457200">
              <a:buFont typeface="+mj-lt"/>
              <a:buAutoNum type="arabicPeriod"/>
            </a:pPr>
            <a:r>
              <a:rPr lang="en-US" dirty="0">
                <a:solidFill>
                  <a:srgbClr val="FFFF00"/>
                </a:solidFill>
                <a:ea typeface="Tahoma" panose="020B0604030504040204" pitchFamily="34" charset="0"/>
                <a:cs typeface="Tahoma" panose="020B0604030504040204" pitchFamily="34" charset="0"/>
              </a:rPr>
              <a:t>Change Detection Phase</a:t>
            </a:r>
            <a:r>
              <a:rPr lang="en-US" dirty="0">
                <a:ea typeface="Tahoma" panose="020B0604030504040204" pitchFamily="34" charset="0"/>
                <a:cs typeface="Tahoma" panose="020B0604030504040204" pitchFamily="34" charset="0"/>
              </a:rPr>
              <a:t>: Angular detects and reacts to changes in component data, especially when input properties change.</a:t>
            </a:r>
          </a:p>
          <a:p>
            <a:pPr marL="914400" lvl="1" indent="-457200">
              <a:buFont typeface="+mj-lt"/>
              <a:buAutoNum type="arabicPeriod"/>
            </a:pPr>
            <a:r>
              <a:rPr lang="en-US" dirty="0">
                <a:solidFill>
                  <a:srgbClr val="FFFF00"/>
                </a:solidFill>
                <a:ea typeface="Tahoma" panose="020B0604030504040204" pitchFamily="34" charset="0"/>
                <a:cs typeface="Tahoma" panose="020B0604030504040204" pitchFamily="34" charset="0"/>
              </a:rPr>
              <a:t>Destruction Phase: </a:t>
            </a:r>
            <a:r>
              <a:rPr lang="en-US" dirty="0">
                <a:ea typeface="Tahoma" panose="020B0604030504040204" pitchFamily="34" charset="0"/>
                <a:cs typeface="Tahoma" panose="020B0604030504040204" pitchFamily="34" charset="0"/>
              </a:rPr>
              <a:t>The component is destroyed when it's no longer needed, and Angular cleans up resources.</a:t>
            </a:r>
            <a:endParaRPr lang="en-US" dirty="0" smtClean="0">
              <a:ea typeface="Tahoma" panose="020B0604030504040204" pitchFamily="34" charset="0"/>
              <a:cs typeface="Tahoma" panose="020B0604030504040204" pitchFamily="34" charset="0"/>
            </a:endParaRPr>
          </a:p>
          <a:p>
            <a:r>
              <a:rPr lang="en-US" dirty="0"/>
              <a:t>Important Lifecycle Hooks in Angular</a:t>
            </a:r>
            <a:endParaRPr lang="en-US" dirty="0" smtClean="0"/>
          </a:p>
          <a:p>
            <a:pPr marL="914400" lvl="1" indent="-457200">
              <a:buFont typeface="+mj-lt"/>
              <a:buAutoNum type="arabicPeriod"/>
            </a:pPr>
            <a:r>
              <a:rPr lang="en-US" sz="2100" dirty="0" err="1">
                <a:solidFill>
                  <a:srgbClr val="FFFF00"/>
                </a:solidFill>
              </a:rPr>
              <a:t>ngOnChanges</a:t>
            </a:r>
            <a:r>
              <a:rPr lang="en-US" sz="2100" dirty="0">
                <a:solidFill>
                  <a:srgbClr val="FFFF00"/>
                </a:solidFill>
              </a:rPr>
              <a:t>()</a:t>
            </a:r>
          </a:p>
          <a:p>
            <a:pPr marL="914400" lvl="1" indent="-457200">
              <a:buFont typeface="+mj-lt"/>
              <a:buAutoNum type="arabicPeriod"/>
            </a:pPr>
            <a:r>
              <a:rPr lang="en-US" sz="2100" dirty="0" err="1">
                <a:solidFill>
                  <a:srgbClr val="FFFF00"/>
                </a:solidFill>
              </a:rPr>
              <a:t>ngOnInit</a:t>
            </a:r>
            <a:r>
              <a:rPr lang="en-US" sz="2100" dirty="0">
                <a:solidFill>
                  <a:srgbClr val="FFFF00"/>
                </a:solidFill>
              </a:rPr>
              <a:t>()</a:t>
            </a:r>
          </a:p>
          <a:p>
            <a:pPr marL="914400" lvl="1" indent="-457200">
              <a:buFont typeface="+mj-lt"/>
              <a:buAutoNum type="arabicPeriod"/>
            </a:pPr>
            <a:r>
              <a:rPr lang="en-US" sz="2100" dirty="0" err="1">
                <a:solidFill>
                  <a:srgbClr val="FFFF00"/>
                </a:solidFill>
              </a:rPr>
              <a:t>ngDoCheck</a:t>
            </a:r>
            <a:r>
              <a:rPr lang="en-US" sz="2100" dirty="0">
                <a:solidFill>
                  <a:srgbClr val="FFFF00"/>
                </a:solidFill>
              </a:rPr>
              <a:t>()</a:t>
            </a:r>
          </a:p>
          <a:p>
            <a:pPr marL="914400" lvl="1" indent="-457200">
              <a:buFont typeface="+mj-lt"/>
              <a:buAutoNum type="arabicPeriod"/>
            </a:pPr>
            <a:r>
              <a:rPr lang="en-US" sz="2100" dirty="0" err="1">
                <a:solidFill>
                  <a:srgbClr val="FFFF00"/>
                </a:solidFill>
              </a:rPr>
              <a:t>ngAfterContentInit</a:t>
            </a:r>
            <a:r>
              <a:rPr lang="en-US" sz="2100" dirty="0">
                <a:solidFill>
                  <a:srgbClr val="FFFF00"/>
                </a:solidFill>
              </a:rPr>
              <a:t>()</a:t>
            </a:r>
          </a:p>
          <a:p>
            <a:pPr marL="914400" lvl="1" indent="-457200">
              <a:buFont typeface="+mj-lt"/>
              <a:buAutoNum type="arabicPeriod"/>
            </a:pPr>
            <a:r>
              <a:rPr lang="en-US" sz="2100" dirty="0" err="1">
                <a:solidFill>
                  <a:srgbClr val="FFFF00"/>
                </a:solidFill>
              </a:rPr>
              <a:t>ngAfterContentChecked</a:t>
            </a:r>
            <a:r>
              <a:rPr lang="en-US" sz="2100" dirty="0">
                <a:solidFill>
                  <a:srgbClr val="FFFF00"/>
                </a:solidFill>
              </a:rPr>
              <a:t>()</a:t>
            </a:r>
          </a:p>
          <a:p>
            <a:pPr marL="914400" lvl="1" indent="-457200">
              <a:buFont typeface="+mj-lt"/>
              <a:buAutoNum type="arabicPeriod"/>
            </a:pPr>
            <a:r>
              <a:rPr lang="en-US" sz="2100" dirty="0" err="1">
                <a:solidFill>
                  <a:srgbClr val="FFFF00"/>
                </a:solidFill>
              </a:rPr>
              <a:t>ngAfterViewInit</a:t>
            </a:r>
            <a:r>
              <a:rPr lang="en-US" sz="2100" dirty="0">
                <a:solidFill>
                  <a:srgbClr val="FFFF00"/>
                </a:solidFill>
              </a:rPr>
              <a:t>()</a:t>
            </a:r>
          </a:p>
          <a:p>
            <a:pPr marL="914400" lvl="1" indent="-457200">
              <a:buFont typeface="+mj-lt"/>
              <a:buAutoNum type="arabicPeriod"/>
            </a:pPr>
            <a:r>
              <a:rPr lang="en-US" sz="2100" dirty="0" err="1">
                <a:solidFill>
                  <a:srgbClr val="FFFF00"/>
                </a:solidFill>
              </a:rPr>
              <a:t>ngAfterViewChecked</a:t>
            </a:r>
            <a:r>
              <a:rPr lang="en-US" sz="2100" dirty="0">
                <a:solidFill>
                  <a:srgbClr val="FFFF00"/>
                </a:solidFill>
              </a:rPr>
              <a:t>()</a:t>
            </a:r>
          </a:p>
          <a:p>
            <a:pPr marL="914400" lvl="1" indent="-457200">
              <a:buFont typeface="+mj-lt"/>
              <a:buAutoNum type="arabicPeriod"/>
            </a:pPr>
            <a:r>
              <a:rPr lang="en-US" sz="2100" dirty="0" err="1">
                <a:solidFill>
                  <a:srgbClr val="FFFF00"/>
                </a:solidFill>
              </a:rPr>
              <a:t>ngOnDestroy</a:t>
            </a:r>
            <a:r>
              <a:rPr lang="en-US" sz="2100" dirty="0">
                <a:solidFill>
                  <a:srgbClr val="FFFF00"/>
                </a:solidFill>
              </a:rPr>
              <a:t>()</a:t>
            </a:r>
            <a:endParaRPr lang="en-US" sz="2100" dirty="0" smtClean="0">
              <a:solidFill>
                <a:srgbClr val="FFFF00"/>
              </a:solidFill>
            </a:endParaRPr>
          </a:p>
          <a:p>
            <a:pPr marL="0" indent="0">
              <a:buNone/>
            </a:pPr>
            <a:endParaRPr lang="en-US" sz="2800" dirty="0"/>
          </a:p>
        </p:txBody>
      </p:sp>
    </p:spTree>
    <p:extLst>
      <p:ext uri="{BB962C8B-B14F-4D97-AF65-F5344CB8AC3E}">
        <p14:creationId xmlns:p14="http://schemas.microsoft.com/office/powerpoint/2010/main" val="3502753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1. </a:t>
            </a:r>
            <a:r>
              <a:rPr lang="en-US" sz="4400" dirty="0" err="1" smtClean="0">
                <a:latin typeface="Rockwell" panose="02060603020205020403" pitchFamily="18" charset="0"/>
              </a:rPr>
              <a:t>ngOnChanges</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smtClean="0"/>
              <a:t>When</a:t>
            </a:r>
            <a:r>
              <a:rPr lang="en-US" dirty="0"/>
              <a:t>: Called before </a:t>
            </a:r>
            <a:r>
              <a:rPr lang="en-US" dirty="0" err="1"/>
              <a:t>ngOnInit</a:t>
            </a:r>
            <a:r>
              <a:rPr lang="en-US" dirty="0"/>
              <a:t>() and whenever any input-bound property changes</a:t>
            </a:r>
          </a:p>
          <a:p>
            <a:r>
              <a:rPr lang="en-US" dirty="0"/>
              <a:t>What it does: Allows you to react to changes in input properties. It receives a </a:t>
            </a:r>
            <a:r>
              <a:rPr lang="en-US" dirty="0" err="1"/>
              <a:t>SimpleChanges</a:t>
            </a:r>
            <a:r>
              <a:rPr lang="en-US" dirty="0"/>
              <a:t> object, which contains the previous and current values of the changed properties.</a:t>
            </a:r>
          </a:p>
          <a:p>
            <a:r>
              <a:rPr lang="en-US" dirty="0"/>
              <a:t>Usage: Useful for reacting to input data changes and triggering side effects</a:t>
            </a:r>
            <a:r>
              <a:rPr lang="en-US" dirty="0" smtClean="0"/>
              <a:t>.</a:t>
            </a:r>
            <a:endParaRPr lang="en-US" dirty="0" smtClean="0"/>
          </a:p>
        </p:txBody>
      </p:sp>
    </p:spTree>
    <p:extLst>
      <p:ext uri="{BB962C8B-B14F-4D97-AF65-F5344CB8AC3E}">
        <p14:creationId xmlns:p14="http://schemas.microsoft.com/office/powerpoint/2010/main" val="1863359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2. </a:t>
            </a:r>
            <a:r>
              <a:rPr lang="en-US" sz="4400" dirty="0" err="1" smtClean="0">
                <a:latin typeface="Rockwell" panose="02060603020205020403" pitchFamily="18" charset="0"/>
              </a:rPr>
              <a:t>ngOnInit</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a:t>When: Called once after the first </a:t>
            </a:r>
            <a:r>
              <a:rPr lang="en-US" dirty="0" err="1"/>
              <a:t>ngOnChanges</a:t>
            </a:r>
            <a:r>
              <a:rPr lang="en-US" dirty="0"/>
              <a:t>(). It's called after Angular has set all input properties of the component.</a:t>
            </a:r>
          </a:p>
          <a:p>
            <a:r>
              <a:rPr lang="en-US" dirty="0" smtClean="0"/>
              <a:t>What </a:t>
            </a:r>
            <a:r>
              <a:rPr lang="en-US" dirty="0"/>
              <a:t>it does: Typically used for initialization tasks that require input properties to be set. It's where you can fetch data or perform setup logic.</a:t>
            </a:r>
          </a:p>
          <a:p>
            <a:r>
              <a:rPr lang="en-US" dirty="0" smtClean="0"/>
              <a:t>Usage</a:t>
            </a:r>
            <a:r>
              <a:rPr lang="en-US" dirty="0"/>
              <a:t>: Ideal for initialization logic (e.g., fetching data from an API) that should only happen once.</a:t>
            </a:r>
          </a:p>
        </p:txBody>
      </p:sp>
    </p:spTree>
    <p:extLst>
      <p:ext uri="{BB962C8B-B14F-4D97-AF65-F5344CB8AC3E}">
        <p14:creationId xmlns:p14="http://schemas.microsoft.com/office/powerpoint/2010/main" val="154437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3. </a:t>
            </a:r>
            <a:r>
              <a:rPr lang="en-US" sz="4400" dirty="0" err="1" smtClean="0">
                <a:latin typeface="Rockwell" panose="02060603020205020403" pitchFamily="18" charset="0"/>
              </a:rPr>
              <a:t>ngDoCheck</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a:t/>
            </a:r>
            <a:br>
              <a:rPr lang="en-US" dirty="0"/>
            </a:br>
            <a:r>
              <a:rPr lang="en-US" dirty="0"/>
              <a:t>When: Called during every change detection cycle, after </a:t>
            </a:r>
            <a:r>
              <a:rPr lang="en-US" dirty="0" err="1"/>
              <a:t>ngOnChanges</a:t>
            </a:r>
            <a:r>
              <a:rPr lang="en-US" dirty="0"/>
              <a:t>() and </a:t>
            </a:r>
            <a:r>
              <a:rPr lang="en-US" dirty="0" err="1"/>
              <a:t>ngOnInit</a:t>
            </a:r>
            <a:r>
              <a:rPr lang="en-US" dirty="0"/>
              <a:t>().</a:t>
            </a:r>
          </a:p>
          <a:p>
            <a:r>
              <a:rPr lang="en-US" dirty="0" smtClean="0"/>
              <a:t>What </a:t>
            </a:r>
            <a:r>
              <a:rPr lang="en-US" dirty="0"/>
              <a:t>it does: Allows you to implement your own custom change detection logic. Angular will call this method for every change detection cycle, even if there were no changes to the component's inputs.</a:t>
            </a:r>
          </a:p>
          <a:p>
            <a:r>
              <a:rPr lang="en-US" dirty="0" smtClean="0"/>
              <a:t>Usage</a:t>
            </a:r>
            <a:r>
              <a:rPr lang="en-US" dirty="0"/>
              <a:t>: Useful for scenarios that require checking for changes that </a:t>
            </a:r>
            <a:r>
              <a:rPr lang="en-US" dirty="0" err="1"/>
              <a:t>Angular's</a:t>
            </a:r>
            <a:r>
              <a:rPr lang="en-US" dirty="0"/>
              <a:t> default change detection strategy does not catch (like manual changes in arrays or objects).</a:t>
            </a:r>
          </a:p>
        </p:txBody>
      </p:sp>
    </p:spTree>
    <p:extLst>
      <p:ext uri="{BB962C8B-B14F-4D97-AF65-F5344CB8AC3E}">
        <p14:creationId xmlns:p14="http://schemas.microsoft.com/office/powerpoint/2010/main" val="2788019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4. </a:t>
            </a:r>
            <a:r>
              <a:rPr lang="en-US" sz="4400" dirty="0" err="1" smtClean="0">
                <a:latin typeface="Rockwell" panose="02060603020205020403" pitchFamily="18" charset="0"/>
              </a:rPr>
              <a:t>ngAfterContentInit</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a:t>When: Called once, after the component's content (ng-content) has been initialized.</a:t>
            </a:r>
          </a:p>
          <a:p>
            <a:r>
              <a:rPr lang="en-US" dirty="0" smtClean="0"/>
              <a:t>What </a:t>
            </a:r>
            <a:r>
              <a:rPr lang="en-US" dirty="0"/>
              <a:t>it does: Executes after the projected content (using &lt;ng-content&gt;) is initialized. Useful when you need to interact with content projected into the component.</a:t>
            </a:r>
          </a:p>
          <a:p>
            <a:r>
              <a:rPr lang="en-US" dirty="0" smtClean="0"/>
              <a:t>Usage</a:t>
            </a:r>
            <a:r>
              <a:rPr lang="en-US" dirty="0"/>
              <a:t>: Typically used for tasks like DOM manipulation or initialization that depends on the content being projected into the component.</a:t>
            </a:r>
          </a:p>
        </p:txBody>
      </p:sp>
    </p:spTree>
    <p:extLst>
      <p:ext uri="{BB962C8B-B14F-4D97-AF65-F5344CB8AC3E}">
        <p14:creationId xmlns:p14="http://schemas.microsoft.com/office/powerpoint/2010/main" val="4287040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5. </a:t>
            </a:r>
            <a:r>
              <a:rPr lang="en-US" sz="4400" dirty="0" err="1" smtClean="0">
                <a:latin typeface="Rockwell" panose="02060603020205020403" pitchFamily="18" charset="0"/>
              </a:rPr>
              <a:t>ngAfterContentChecked</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a:t>When: Called after every change detection cycle that involves the component’s projected content.</a:t>
            </a:r>
          </a:p>
          <a:p>
            <a:r>
              <a:rPr lang="en-US" dirty="0" smtClean="0"/>
              <a:t>What </a:t>
            </a:r>
            <a:r>
              <a:rPr lang="en-US" dirty="0"/>
              <a:t>it does: Called after </a:t>
            </a:r>
            <a:r>
              <a:rPr lang="en-US" dirty="0" err="1"/>
              <a:t>ngAfterContentInit</a:t>
            </a:r>
            <a:r>
              <a:rPr lang="en-US" dirty="0"/>
              <a:t>() and every time Angular checks the content projected into the component.</a:t>
            </a:r>
          </a:p>
          <a:p>
            <a:r>
              <a:rPr lang="en-US" dirty="0" smtClean="0"/>
              <a:t>Usage</a:t>
            </a:r>
            <a:r>
              <a:rPr lang="en-US" dirty="0"/>
              <a:t>: Used when you need to react to changes in the content that is projected into the component.</a:t>
            </a:r>
          </a:p>
        </p:txBody>
      </p:sp>
    </p:spTree>
    <p:extLst>
      <p:ext uri="{BB962C8B-B14F-4D97-AF65-F5344CB8AC3E}">
        <p14:creationId xmlns:p14="http://schemas.microsoft.com/office/powerpoint/2010/main" val="2364681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6. </a:t>
            </a:r>
            <a:r>
              <a:rPr lang="en-US" sz="4400" dirty="0" err="1" smtClean="0">
                <a:latin typeface="Rockwell" panose="02060603020205020403" pitchFamily="18" charset="0"/>
              </a:rPr>
              <a:t>ngAfterViewInit</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a:t>When: Called once, after Angular initializes the component's view and child views.</a:t>
            </a:r>
          </a:p>
          <a:p>
            <a:r>
              <a:rPr lang="en-US" dirty="0" smtClean="0"/>
              <a:t>What </a:t>
            </a:r>
            <a:r>
              <a:rPr lang="en-US" dirty="0"/>
              <a:t>it does: Executes after the component's view (including its child components) has been fully initialized. It’s typically used for DOM manipulation or accessing child elements.</a:t>
            </a:r>
          </a:p>
          <a:p>
            <a:r>
              <a:rPr lang="en-US" dirty="0" smtClean="0"/>
              <a:t>Usage</a:t>
            </a:r>
            <a:r>
              <a:rPr lang="en-US" dirty="0"/>
              <a:t>: Often used when you need to perform actions that depend on the component’s view, like initializing third-party libraries that manipulate the DOM.</a:t>
            </a:r>
          </a:p>
        </p:txBody>
      </p:sp>
    </p:spTree>
    <p:extLst>
      <p:ext uri="{BB962C8B-B14F-4D97-AF65-F5344CB8AC3E}">
        <p14:creationId xmlns:p14="http://schemas.microsoft.com/office/powerpoint/2010/main" val="3666552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7. </a:t>
            </a:r>
            <a:r>
              <a:rPr lang="en-US" sz="4400" dirty="0" err="1" smtClean="0">
                <a:latin typeface="Rockwell" panose="02060603020205020403" pitchFamily="18" charset="0"/>
              </a:rPr>
              <a:t>ngAfterViewChecked</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r>
              <a:rPr lang="en-US" dirty="0"/>
              <a:t>When: Called after every change detection cycle that checks the component's view and its child views.</a:t>
            </a:r>
          </a:p>
          <a:p>
            <a:r>
              <a:rPr lang="en-US" dirty="0" smtClean="0"/>
              <a:t>What </a:t>
            </a:r>
            <a:r>
              <a:rPr lang="en-US" dirty="0"/>
              <a:t>it does: Runs after the </a:t>
            </a:r>
            <a:r>
              <a:rPr lang="en-US" dirty="0" err="1"/>
              <a:t>ngAfterViewInit</a:t>
            </a:r>
            <a:r>
              <a:rPr lang="en-US" dirty="0"/>
              <a:t>() and every time Angular checks the component’s view.</a:t>
            </a:r>
          </a:p>
          <a:p>
            <a:r>
              <a:rPr lang="en-US" dirty="0" smtClean="0"/>
              <a:t>Usage</a:t>
            </a:r>
            <a:r>
              <a:rPr lang="en-US" dirty="0"/>
              <a:t>: Used for responding to changes in the component’s view, for example, for logging or debugging purposes.</a:t>
            </a:r>
          </a:p>
        </p:txBody>
      </p:sp>
    </p:spTree>
    <p:extLst>
      <p:ext uri="{BB962C8B-B14F-4D97-AF65-F5344CB8AC3E}">
        <p14:creationId xmlns:p14="http://schemas.microsoft.com/office/powerpoint/2010/main" val="644750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smtClean="0">
                <a:latin typeface="Rockwell" panose="02060603020205020403" pitchFamily="18" charset="0"/>
              </a:rPr>
              <a:t>8. </a:t>
            </a:r>
            <a:r>
              <a:rPr lang="en-US" sz="4400" dirty="0" err="1" smtClean="0">
                <a:latin typeface="Rockwell" panose="02060603020205020403" pitchFamily="18" charset="0"/>
              </a:rPr>
              <a:t>ngOnDestroy</a:t>
            </a:r>
            <a:endParaRPr lang="en-US" sz="4400" dirty="0">
              <a:latin typeface="Rockwell" panose="02060603020205020403" pitchFamily="18" charset="0"/>
            </a:endParaRPr>
          </a:p>
        </p:txBody>
      </p:sp>
      <p:sp>
        <p:nvSpPr>
          <p:cNvPr id="3" name="Content Placeholder 2">
            <a:extLst>
              <a:ext uri="{FF2B5EF4-FFF2-40B4-BE49-F238E27FC236}">
                <a16:creationId xmlns:a16="http://schemas.microsoft.com/office/drawing/2014/main" xmlns="" id="{143F5361-68C0-4BF5-80C8-F1E7BF92B2DB}"/>
              </a:ext>
            </a:extLst>
          </p:cNvPr>
          <p:cNvSpPr>
            <a:spLocks noGrp="1"/>
          </p:cNvSpPr>
          <p:nvPr>
            <p:ph idx="1"/>
          </p:nvPr>
        </p:nvSpPr>
        <p:spPr>
          <a:xfrm>
            <a:off x="1208524" y="1048624"/>
            <a:ext cx="9905999" cy="5419288"/>
          </a:xfrm>
        </p:spPr>
        <p:txBody>
          <a:bodyPr>
            <a:normAutofit/>
          </a:bodyPr>
          <a:lstStyle/>
          <a:p>
            <a:endParaRPr lang="en-US" dirty="0" smtClean="0"/>
          </a:p>
          <a:p>
            <a:r>
              <a:rPr lang="en-US" dirty="0" smtClean="0"/>
              <a:t>When</a:t>
            </a:r>
            <a:r>
              <a:rPr lang="en-US" dirty="0"/>
              <a:t>: Called just before Angular destroys the component.</a:t>
            </a:r>
          </a:p>
          <a:p>
            <a:r>
              <a:rPr lang="en-US" dirty="0" smtClean="0"/>
              <a:t>What </a:t>
            </a:r>
            <a:r>
              <a:rPr lang="en-US" dirty="0"/>
              <a:t>it does: Executes cleanup logic, like unsubscribing from observables, clearing timeouts, or releasing other resources.</a:t>
            </a:r>
          </a:p>
          <a:p>
            <a:r>
              <a:rPr lang="en-US" dirty="0" smtClean="0"/>
              <a:t>Usage</a:t>
            </a:r>
            <a:r>
              <a:rPr lang="en-US" dirty="0"/>
              <a:t>: It's essential for cleaning up to avoid memory leaks, particularly when dealing with external resources, subscriptions, or DOM manipulation.</a:t>
            </a:r>
          </a:p>
        </p:txBody>
      </p:sp>
    </p:spTree>
    <p:extLst>
      <p:ext uri="{BB962C8B-B14F-4D97-AF65-F5344CB8AC3E}">
        <p14:creationId xmlns:p14="http://schemas.microsoft.com/office/powerpoint/2010/main" val="1748983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141412" y="0"/>
            <a:ext cx="9905998" cy="1048624"/>
          </a:xfrm>
        </p:spPr>
        <p:txBody>
          <a:bodyPr>
            <a:normAutofit/>
          </a:bodyPr>
          <a:lstStyle/>
          <a:p>
            <a:r>
              <a:rPr lang="en-US" sz="4400" dirty="0">
                <a:latin typeface="Rockwell" panose="02060603020205020403" pitchFamily="18" charset="0"/>
              </a:rPr>
              <a:t>Component Lifecycle Summary</a:t>
            </a:r>
          </a:p>
        </p:txBody>
      </p:sp>
      <p:graphicFrame>
        <p:nvGraphicFramePr>
          <p:cNvPr id="5" name="Content Placeholder 4"/>
          <p:cNvGraphicFramePr>
            <a:graphicFrameLocks noGrp="1"/>
          </p:cNvGraphicFramePr>
          <p:nvPr>
            <p:ph idx="1"/>
          </p:nvPr>
        </p:nvGraphicFramePr>
        <p:xfrm>
          <a:off x="1269714" y="1020328"/>
          <a:ext cx="9782748" cy="5476158"/>
        </p:xfrm>
        <a:graphic>
          <a:graphicData uri="http://schemas.openxmlformats.org/drawingml/2006/table">
            <a:tbl>
              <a:tblPr/>
              <a:tblGrid>
                <a:gridCol w="3260916">
                  <a:extLst>
                    <a:ext uri="{9D8B030D-6E8A-4147-A177-3AD203B41FA5}">
                      <a16:colId xmlns:a16="http://schemas.microsoft.com/office/drawing/2014/main" xmlns="" val="1423817917"/>
                    </a:ext>
                  </a:extLst>
                </a:gridCol>
                <a:gridCol w="3260916">
                  <a:extLst>
                    <a:ext uri="{9D8B030D-6E8A-4147-A177-3AD203B41FA5}">
                      <a16:colId xmlns:a16="http://schemas.microsoft.com/office/drawing/2014/main" xmlns="" val="4034611723"/>
                    </a:ext>
                  </a:extLst>
                </a:gridCol>
                <a:gridCol w="3260916">
                  <a:extLst>
                    <a:ext uri="{9D8B030D-6E8A-4147-A177-3AD203B41FA5}">
                      <a16:colId xmlns:a16="http://schemas.microsoft.com/office/drawing/2014/main" xmlns="" val="2040916889"/>
                    </a:ext>
                  </a:extLst>
                </a:gridCol>
              </a:tblGrid>
              <a:tr h="361209">
                <a:tc>
                  <a:txBody>
                    <a:bodyPr/>
                    <a:lstStyle/>
                    <a:p>
                      <a:r>
                        <a:rPr lang="en-US" sz="1800" b="1"/>
                        <a:t>Hook</a:t>
                      </a:r>
                      <a:endParaRPr lang="en-US" sz="1800"/>
                    </a:p>
                  </a:txBody>
                  <a:tcPr marL="90302" marR="90302" marT="45151" marB="45151" anchor="ctr">
                    <a:lnL>
                      <a:noFill/>
                    </a:lnL>
                    <a:lnR>
                      <a:noFill/>
                    </a:lnR>
                    <a:lnT>
                      <a:noFill/>
                    </a:lnT>
                    <a:lnB>
                      <a:noFill/>
                    </a:lnB>
                  </a:tcPr>
                </a:tc>
                <a:tc>
                  <a:txBody>
                    <a:bodyPr/>
                    <a:lstStyle/>
                    <a:p>
                      <a:r>
                        <a:rPr lang="en-US" sz="1800" b="1"/>
                        <a:t>When</a:t>
                      </a:r>
                      <a:endParaRPr lang="en-US" sz="1800"/>
                    </a:p>
                  </a:txBody>
                  <a:tcPr marL="90302" marR="90302" marT="45151" marB="45151" anchor="ctr">
                    <a:lnL>
                      <a:noFill/>
                    </a:lnL>
                    <a:lnR>
                      <a:noFill/>
                    </a:lnR>
                    <a:lnT>
                      <a:noFill/>
                    </a:lnT>
                    <a:lnB>
                      <a:noFill/>
                    </a:lnB>
                  </a:tcPr>
                </a:tc>
                <a:tc>
                  <a:txBody>
                    <a:bodyPr/>
                    <a:lstStyle/>
                    <a:p>
                      <a:r>
                        <a:rPr lang="en-US" sz="1800" b="1"/>
                        <a:t>Use Case</a:t>
                      </a:r>
                      <a:endParaRPr lang="en-US" sz="1800"/>
                    </a:p>
                  </a:txBody>
                  <a:tcPr marL="90302" marR="90302" marT="45151" marB="45151" anchor="ctr">
                    <a:lnL>
                      <a:noFill/>
                    </a:lnL>
                    <a:lnR>
                      <a:noFill/>
                    </a:lnR>
                    <a:lnT>
                      <a:noFill/>
                    </a:lnT>
                    <a:lnB>
                      <a:noFill/>
                    </a:lnB>
                  </a:tcPr>
                </a:tc>
                <a:extLst>
                  <a:ext uri="{0D108BD9-81ED-4DB2-BD59-A6C34878D82A}">
                    <a16:rowId xmlns:a16="http://schemas.microsoft.com/office/drawing/2014/main" xmlns="" val="1453539845"/>
                  </a:ext>
                </a:extLst>
              </a:tr>
              <a:tr h="632116">
                <a:tc>
                  <a:txBody>
                    <a:bodyPr/>
                    <a:lstStyle/>
                    <a:p>
                      <a:r>
                        <a:rPr lang="en-US" sz="1800"/>
                        <a:t>ngOnChanges()</a:t>
                      </a:r>
                    </a:p>
                  </a:txBody>
                  <a:tcPr marL="90302" marR="90302" marT="45151" marB="45151" anchor="ctr">
                    <a:lnL>
                      <a:noFill/>
                    </a:lnL>
                    <a:lnR>
                      <a:noFill/>
                    </a:lnR>
                    <a:lnT>
                      <a:noFill/>
                    </a:lnT>
                    <a:lnB>
                      <a:noFill/>
                    </a:lnB>
                  </a:tcPr>
                </a:tc>
                <a:tc>
                  <a:txBody>
                    <a:bodyPr/>
                    <a:lstStyle/>
                    <a:p>
                      <a:r>
                        <a:rPr lang="en-US" sz="1800"/>
                        <a:t>Before ngOnInit() and when input properties change</a:t>
                      </a:r>
                    </a:p>
                  </a:txBody>
                  <a:tcPr marL="90302" marR="90302" marT="45151" marB="45151" anchor="ctr">
                    <a:lnL>
                      <a:noFill/>
                    </a:lnL>
                    <a:lnR>
                      <a:noFill/>
                    </a:lnR>
                    <a:lnT>
                      <a:noFill/>
                    </a:lnT>
                    <a:lnB>
                      <a:noFill/>
                    </a:lnB>
                  </a:tcPr>
                </a:tc>
                <a:tc>
                  <a:txBody>
                    <a:bodyPr/>
                    <a:lstStyle/>
                    <a:p>
                      <a:r>
                        <a:rPr lang="en-US" sz="1800"/>
                        <a:t>React to changes in input properties</a:t>
                      </a:r>
                    </a:p>
                  </a:txBody>
                  <a:tcPr marL="90302" marR="90302" marT="45151" marB="45151" anchor="ctr">
                    <a:lnL>
                      <a:noFill/>
                    </a:lnL>
                    <a:lnR>
                      <a:noFill/>
                    </a:lnR>
                    <a:lnT>
                      <a:noFill/>
                    </a:lnT>
                    <a:lnB>
                      <a:noFill/>
                    </a:lnB>
                  </a:tcPr>
                </a:tc>
                <a:extLst>
                  <a:ext uri="{0D108BD9-81ED-4DB2-BD59-A6C34878D82A}">
                    <a16:rowId xmlns:a16="http://schemas.microsoft.com/office/drawing/2014/main" xmlns="" val="1061621537"/>
                  </a:ext>
                </a:extLst>
              </a:tr>
              <a:tr h="632116">
                <a:tc>
                  <a:txBody>
                    <a:bodyPr/>
                    <a:lstStyle/>
                    <a:p>
                      <a:r>
                        <a:rPr lang="en-US" sz="1800"/>
                        <a:t>ngOnInit()</a:t>
                      </a:r>
                    </a:p>
                  </a:txBody>
                  <a:tcPr marL="90302" marR="90302" marT="45151" marB="45151" anchor="ctr">
                    <a:lnL>
                      <a:noFill/>
                    </a:lnL>
                    <a:lnR>
                      <a:noFill/>
                    </a:lnR>
                    <a:lnT>
                      <a:noFill/>
                    </a:lnT>
                    <a:lnB>
                      <a:noFill/>
                    </a:lnB>
                  </a:tcPr>
                </a:tc>
                <a:tc>
                  <a:txBody>
                    <a:bodyPr/>
                    <a:lstStyle/>
                    <a:p>
                      <a:r>
                        <a:rPr lang="en-US" sz="1800"/>
                        <a:t>After ngOnChanges(), once after component is initialized</a:t>
                      </a:r>
                    </a:p>
                  </a:txBody>
                  <a:tcPr marL="90302" marR="90302" marT="45151" marB="45151" anchor="ctr">
                    <a:lnL>
                      <a:noFill/>
                    </a:lnL>
                    <a:lnR>
                      <a:noFill/>
                    </a:lnR>
                    <a:lnT>
                      <a:noFill/>
                    </a:lnT>
                    <a:lnB>
                      <a:noFill/>
                    </a:lnB>
                  </a:tcPr>
                </a:tc>
                <a:tc>
                  <a:txBody>
                    <a:bodyPr/>
                    <a:lstStyle/>
                    <a:p>
                      <a:r>
                        <a:rPr lang="en-US" sz="1800"/>
                        <a:t>Initialization tasks (e.g., fetching data)</a:t>
                      </a:r>
                    </a:p>
                  </a:txBody>
                  <a:tcPr marL="90302" marR="90302" marT="45151" marB="45151" anchor="ctr">
                    <a:lnL>
                      <a:noFill/>
                    </a:lnL>
                    <a:lnR>
                      <a:noFill/>
                    </a:lnR>
                    <a:lnT>
                      <a:noFill/>
                    </a:lnT>
                    <a:lnB>
                      <a:noFill/>
                    </a:lnB>
                  </a:tcPr>
                </a:tc>
                <a:extLst>
                  <a:ext uri="{0D108BD9-81ED-4DB2-BD59-A6C34878D82A}">
                    <a16:rowId xmlns:a16="http://schemas.microsoft.com/office/drawing/2014/main" xmlns="" val="3239277914"/>
                  </a:ext>
                </a:extLst>
              </a:tr>
              <a:tr h="632116">
                <a:tc>
                  <a:txBody>
                    <a:bodyPr/>
                    <a:lstStyle/>
                    <a:p>
                      <a:r>
                        <a:rPr lang="en-US" sz="1800"/>
                        <a:t>ngDoCheck()</a:t>
                      </a:r>
                    </a:p>
                  </a:txBody>
                  <a:tcPr marL="90302" marR="90302" marT="45151" marB="45151" anchor="ctr">
                    <a:lnL>
                      <a:noFill/>
                    </a:lnL>
                    <a:lnR>
                      <a:noFill/>
                    </a:lnR>
                    <a:lnT>
                      <a:noFill/>
                    </a:lnT>
                    <a:lnB>
                      <a:noFill/>
                    </a:lnB>
                  </a:tcPr>
                </a:tc>
                <a:tc>
                  <a:txBody>
                    <a:bodyPr/>
                    <a:lstStyle/>
                    <a:p>
                      <a:r>
                        <a:rPr lang="en-US" sz="1800"/>
                        <a:t>During each change detection cycle</a:t>
                      </a:r>
                    </a:p>
                  </a:txBody>
                  <a:tcPr marL="90302" marR="90302" marT="45151" marB="45151" anchor="ctr">
                    <a:lnL>
                      <a:noFill/>
                    </a:lnL>
                    <a:lnR>
                      <a:noFill/>
                    </a:lnR>
                    <a:lnT>
                      <a:noFill/>
                    </a:lnT>
                    <a:lnB>
                      <a:noFill/>
                    </a:lnB>
                  </a:tcPr>
                </a:tc>
                <a:tc>
                  <a:txBody>
                    <a:bodyPr/>
                    <a:lstStyle/>
                    <a:p>
                      <a:r>
                        <a:rPr lang="en-US" sz="1800"/>
                        <a:t>Custom change detection logic</a:t>
                      </a:r>
                    </a:p>
                  </a:txBody>
                  <a:tcPr marL="90302" marR="90302" marT="45151" marB="45151" anchor="ctr">
                    <a:lnL>
                      <a:noFill/>
                    </a:lnL>
                    <a:lnR>
                      <a:noFill/>
                    </a:lnR>
                    <a:lnT>
                      <a:noFill/>
                    </a:lnT>
                    <a:lnB>
                      <a:noFill/>
                    </a:lnB>
                  </a:tcPr>
                </a:tc>
                <a:extLst>
                  <a:ext uri="{0D108BD9-81ED-4DB2-BD59-A6C34878D82A}">
                    <a16:rowId xmlns:a16="http://schemas.microsoft.com/office/drawing/2014/main" xmlns="" val="2499774092"/>
                  </a:ext>
                </a:extLst>
              </a:tr>
              <a:tr h="632116">
                <a:tc>
                  <a:txBody>
                    <a:bodyPr/>
                    <a:lstStyle/>
                    <a:p>
                      <a:r>
                        <a:rPr lang="en-US" sz="1800"/>
                        <a:t>ngAfterContentInit()</a:t>
                      </a:r>
                    </a:p>
                  </a:txBody>
                  <a:tcPr marL="90302" marR="90302" marT="45151" marB="45151" anchor="ctr">
                    <a:lnL>
                      <a:noFill/>
                    </a:lnL>
                    <a:lnR>
                      <a:noFill/>
                    </a:lnR>
                    <a:lnT>
                      <a:noFill/>
                    </a:lnT>
                    <a:lnB>
                      <a:noFill/>
                    </a:lnB>
                  </a:tcPr>
                </a:tc>
                <a:tc>
                  <a:txBody>
                    <a:bodyPr/>
                    <a:lstStyle/>
                    <a:p>
                      <a:r>
                        <a:rPr lang="en-US" sz="1800"/>
                        <a:t>After content is projected into the component</a:t>
                      </a:r>
                    </a:p>
                  </a:txBody>
                  <a:tcPr marL="90302" marR="90302" marT="45151" marB="45151" anchor="ctr">
                    <a:lnL>
                      <a:noFill/>
                    </a:lnL>
                    <a:lnR>
                      <a:noFill/>
                    </a:lnR>
                    <a:lnT>
                      <a:noFill/>
                    </a:lnT>
                    <a:lnB>
                      <a:noFill/>
                    </a:lnB>
                  </a:tcPr>
                </a:tc>
                <a:tc>
                  <a:txBody>
                    <a:bodyPr/>
                    <a:lstStyle/>
                    <a:p>
                      <a:r>
                        <a:rPr lang="en-US" sz="1800"/>
                        <a:t>Initialization logic that depends on projected content</a:t>
                      </a:r>
                    </a:p>
                  </a:txBody>
                  <a:tcPr marL="90302" marR="90302" marT="45151" marB="45151" anchor="ctr">
                    <a:lnL>
                      <a:noFill/>
                    </a:lnL>
                    <a:lnR>
                      <a:noFill/>
                    </a:lnR>
                    <a:lnT>
                      <a:noFill/>
                    </a:lnT>
                    <a:lnB>
                      <a:noFill/>
                    </a:lnB>
                  </a:tcPr>
                </a:tc>
                <a:extLst>
                  <a:ext uri="{0D108BD9-81ED-4DB2-BD59-A6C34878D82A}">
                    <a16:rowId xmlns:a16="http://schemas.microsoft.com/office/drawing/2014/main" xmlns="" val="3869842815"/>
                  </a:ext>
                </a:extLst>
              </a:tr>
              <a:tr h="632116">
                <a:tc>
                  <a:txBody>
                    <a:bodyPr/>
                    <a:lstStyle/>
                    <a:p>
                      <a:r>
                        <a:rPr lang="en-US" sz="1800"/>
                        <a:t>ngAfterContentChecked()</a:t>
                      </a:r>
                    </a:p>
                  </a:txBody>
                  <a:tcPr marL="90302" marR="90302" marT="45151" marB="45151" anchor="ctr">
                    <a:lnL>
                      <a:noFill/>
                    </a:lnL>
                    <a:lnR>
                      <a:noFill/>
                    </a:lnR>
                    <a:lnT>
                      <a:noFill/>
                    </a:lnT>
                    <a:lnB>
                      <a:noFill/>
                    </a:lnB>
                  </a:tcPr>
                </a:tc>
                <a:tc>
                  <a:txBody>
                    <a:bodyPr/>
                    <a:lstStyle/>
                    <a:p>
                      <a:r>
                        <a:rPr lang="en-US" sz="1800"/>
                        <a:t>After content has been checked by Angular</a:t>
                      </a:r>
                    </a:p>
                  </a:txBody>
                  <a:tcPr marL="90302" marR="90302" marT="45151" marB="45151" anchor="ctr">
                    <a:lnL>
                      <a:noFill/>
                    </a:lnL>
                    <a:lnR>
                      <a:noFill/>
                    </a:lnR>
                    <a:lnT>
                      <a:noFill/>
                    </a:lnT>
                    <a:lnB>
                      <a:noFill/>
                    </a:lnB>
                  </a:tcPr>
                </a:tc>
                <a:tc>
                  <a:txBody>
                    <a:bodyPr/>
                    <a:lstStyle/>
                    <a:p>
                      <a:r>
                        <a:rPr lang="en-US" sz="1800"/>
                        <a:t>React to changes in projected content</a:t>
                      </a:r>
                    </a:p>
                  </a:txBody>
                  <a:tcPr marL="90302" marR="90302" marT="45151" marB="45151" anchor="ctr">
                    <a:lnL>
                      <a:noFill/>
                    </a:lnL>
                    <a:lnR>
                      <a:noFill/>
                    </a:lnR>
                    <a:lnT>
                      <a:noFill/>
                    </a:lnT>
                    <a:lnB>
                      <a:noFill/>
                    </a:lnB>
                  </a:tcPr>
                </a:tc>
                <a:extLst>
                  <a:ext uri="{0D108BD9-81ED-4DB2-BD59-A6C34878D82A}">
                    <a16:rowId xmlns:a16="http://schemas.microsoft.com/office/drawing/2014/main" xmlns="" val="121738766"/>
                  </a:ext>
                </a:extLst>
              </a:tr>
              <a:tr h="632116">
                <a:tc>
                  <a:txBody>
                    <a:bodyPr/>
                    <a:lstStyle/>
                    <a:p>
                      <a:r>
                        <a:rPr lang="en-US" sz="1800"/>
                        <a:t>ngAfterViewInit()</a:t>
                      </a:r>
                    </a:p>
                  </a:txBody>
                  <a:tcPr marL="90302" marR="90302" marT="45151" marB="45151" anchor="ctr">
                    <a:lnL>
                      <a:noFill/>
                    </a:lnL>
                    <a:lnR>
                      <a:noFill/>
                    </a:lnR>
                    <a:lnT>
                      <a:noFill/>
                    </a:lnT>
                    <a:lnB>
                      <a:noFill/>
                    </a:lnB>
                  </a:tcPr>
                </a:tc>
                <a:tc>
                  <a:txBody>
                    <a:bodyPr/>
                    <a:lstStyle/>
                    <a:p>
                      <a:r>
                        <a:rPr lang="en-US" sz="1800"/>
                        <a:t>After the view and child views have been initialized</a:t>
                      </a:r>
                    </a:p>
                  </a:txBody>
                  <a:tcPr marL="90302" marR="90302" marT="45151" marB="45151" anchor="ctr">
                    <a:lnL>
                      <a:noFill/>
                    </a:lnL>
                    <a:lnR>
                      <a:noFill/>
                    </a:lnR>
                    <a:lnT>
                      <a:noFill/>
                    </a:lnT>
                    <a:lnB>
                      <a:noFill/>
                    </a:lnB>
                  </a:tcPr>
                </a:tc>
                <a:tc>
                  <a:txBody>
                    <a:bodyPr/>
                    <a:lstStyle/>
                    <a:p>
                      <a:r>
                        <a:rPr lang="en-US" sz="1800"/>
                        <a:t>DOM manipulation or accessing child views</a:t>
                      </a:r>
                    </a:p>
                  </a:txBody>
                  <a:tcPr marL="90302" marR="90302" marT="45151" marB="45151" anchor="ctr">
                    <a:lnL>
                      <a:noFill/>
                    </a:lnL>
                    <a:lnR>
                      <a:noFill/>
                    </a:lnR>
                    <a:lnT>
                      <a:noFill/>
                    </a:lnT>
                    <a:lnB>
                      <a:noFill/>
                    </a:lnB>
                  </a:tcPr>
                </a:tc>
                <a:extLst>
                  <a:ext uri="{0D108BD9-81ED-4DB2-BD59-A6C34878D82A}">
                    <a16:rowId xmlns:a16="http://schemas.microsoft.com/office/drawing/2014/main" xmlns="" val="1892403296"/>
                  </a:ext>
                </a:extLst>
              </a:tr>
              <a:tr h="632116">
                <a:tc>
                  <a:txBody>
                    <a:bodyPr/>
                    <a:lstStyle/>
                    <a:p>
                      <a:r>
                        <a:rPr lang="en-US" sz="1800"/>
                        <a:t>ngAfterViewChecked()</a:t>
                      </a:r>
                    </a:p>
                  </a:txBody>
                  <a:tcPr marL="90302" marR="90302" marT="45151" marB="45151" anchor="ctr">
                    <a:lnL>
                      <a:noFill/>
                    </a:lnL>
                    <a:lnR>
                      <a:noFill/>
                    </a:lnR>
                    <a:lnT>
                      <a:noFill/>
                    </a:lnT>
                    <a:lnB>
                      <a:noFill/>
                    </a:lnB>
                  </a:tcPr>
                </a:tc>
                <a:tc>
                  <a:txBody>
                    <a:bodyPr/>
                    <a:lstStyle/>
                    <a:p>
                      <a:r>
                        <a:rPr lang="en-US" sz="1800"/>
                        <a:t>After the view has been checked by Angular</a:t>
                      </a:r>
                    </a:p>
                  </a:txBody>
                  <a:tcPr marL="90302" marR="90302" marT="45151" marB="45151" anchor="ctr">
                    <a:lnL>
                      <a:noFill/>
                    </a:lnL>
                    <a:lnR>
                      <a:noFill/>
                    </a:lnR>
                    <a:lnT>
                      <a:noFill/>
                    </a:lnT>
                    <a:lnB>
                      <a:noFill/>
                    </a:lnB>
                  </a:tcPr>
                </a:tc>
                <a:tc>
                  <a:txBody>
                    <a:bodyPr/>
                    <a:lstStyle/>
                    <a:p>
                      <a:r>
                        <a:rPr lang="en-US" sz="1800"/>
                        <a:t>React to changes in the view</a:t>
                      </a:r>
                    </a:p>
                  </a:txBody>
                  <a:tcPr marL="90302" marR="90302" marT="45151" marB="45151" anchor="ctr">
                    <a:lnL>
                      <a:noFill/>
                    </a:lnL>
                    <a:lnR>
                      <a:noFill/>
                    </a:lnR>
                    <a:lnT>
                      <a:noFill/>
                    </a:lnT>
                    <a:lnB>
                      <a:noFill/>
                    </a:lnB>
                  </a:tcPr>
                </a:tc>
                <a:extLst>
                  <a:ext uri="{0D108BD9-81ED-4DB2-BD59-A6C34878D82A}">
                    <a16:rowId xmlns:a16="http://schemas.microsoft.com/office/drawing/2014/main" xmlns="" val="2130927607"/>
                  </a:ext>
                </a:extLst>
              </a:tr>
              <a:tr h="632116">
                <a:tc>
                  <a:txBody>
                    <a:bodyPr/>
                    <a:lstStyle/>
                    <a:p>
                      <a:r>
                        <a:rPr lang="en-US" sz="1800"/>
                        <a:t>ngOnDestroy()</a:t>
                      </a:r>
                    </a:p>
                  </a:txBody>
                  <a:tcPr marL="90302" marR="90302" marT="45151" marB="45151" anchor="ctr">
                    <a:lnL>
                      <a:noFill/>
                    </a:lnL>
                    <a:lnR>
                      <a:noFill/>
                    </a:lnR>
                    <a:lnT>
                      <a:noFill/>
                    </a:lnT>
                    <a:lnB>
                      <a:noFill/>
                    </a:lnB>
                  </a:tcPr>
                </a:tc>
                <a:tc>
                  <a:txBody>
                    <a:bodyPr/>
                    <a:lstStyle/>
                    <a:p>
                      <a:r>
                        <a:rPr lang="en-US" sz="1800"/>
                        <a:t>Just before the component is destroyed</a:t>
                      </a:r>
                    </a:p>
                  </a:txBody>
                  <a:tcPr marL="90302" marR="90302" marT="45151" marB="45151" anchor="ctr">
                    <a:lnL>
                      <a:noFill/>
                    </a:lnL>
                    <a:lnR>
                      <a:noFill/>
                    </a:lnR>
                    <a:lnT>
                      <a:noFill/>
                    </a:lnT>
                    <a:lnB>
                      <a:noFill/>
                    </a:lnB>
                  </a:tcPr>
                </a:tc>
                <a:tc>
                  <a:txBody>
                    <a:bodyPr/>
                    <a:lstStyle/>
                    <a:p>
                      <a:r>
                        <a:rPr lang="en-US" sz="1800" dirty="0"/>
                        <a:t>Cleanup (e.g., unsubscribe, clear intervals)</a:t>
                      </a:r>
                    </a:p>
                  </a:txBody>
                  <a:tcPr marL="90302" marR="90302" marT="45151" marB="45151" anchor="ctr">
                    <a:lnL>
                      <a:noFill/>
                    </a:lnL>
                    <a:lnR>
                      <a:noFill/>
                    </a:lnR>
                    <a:lnT>
                      <a:noFill/>
                    </a:lnT>
                    <a:lnB>
                      <a:noFill/>
                    </a:lnB>
                  </a:tcPr>
                </a:tc>
                <a:extLst>
                  <a:ext uri="{0D108BD9-81ED-4DB2-BD59-A6C34878D82A}">
                    <a16:rowId xmlns:a16="http://schemas.microsoft.com/office/drawing/2014/main" xmlns="" val="2302318553"/>
                  </a:ext>
                </a:extLst>
              </a:tr>
            </a:tbl>
          </a:graphicData>
        </a:graphic>
      </p:graphicFrame>
    </p:spTree>
    <p:extLst>
      <p:ext uri="{BB962C8B-B14F-4D97-AF65-F5344CB8AC3E}">
        <p14:creationId xmlns:p14="http://schemas.microsoft.com/office/powerpoint/2010/main" val="159402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DB6CE4-2B13-4715-B5B2-615A55922CA1}"/>
              </a:ext>
            </a:extLst>
          </p:cNvPr>
          <p:cNvSpPr>
            <a:spLocks noGrp="1"/>
          </p:cNvSpPr>
          <p:nvPr>
            <p:ph type="title"/>
          </p:nvPr>
        </p:nvSpPr>
        <p:spPr>
          <a:xfrm>
            <a:off x="1240267" y="2809783"/>
            <a:ext cx="9905998" cy="1478570"/>
          </a:xfrm>
        </p:spPr>
        <p:txBody>
          <a:bodyPr>
            <a:normAutofit/>
          </a:bodyPr>
          <a:lstStyle/>
          <a:p>
            <a:pPr algn="ctr"/>
            <a:r>
              <a:rPr lang="en-US" sz="6000" dirty="0" smtClean="0">
                <a:latin typeface="Rockwell" panose="02060603020205020403" pitchFamily="18" charset="0"/>
              </a:rPr>
              <a:t>Thank You</a:t>
            </a:r>
            <a:endParaRPr lang="en-US" sz="6000" dirty="0">
              <a:latin typeface="Rockwell" panose="02060603020205020403" pitchFamily="18" charset="0"/>
            </a:endParaRPr>
          </a:p>
        </p:txBody>
      </p:sp>
    </p:spTree>
    <p:extLst>
      <p:ext uri="{BB962C8B-B14F-4D97-AF65-F5344CB8AC3E}">
        <p14:creationId xmlns:p14="http://schemas.microsoft.com/office/powerpoint/2010/main" val="19026133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866CFD-F94E-4AE5-ACEA-86FEC0F48A10}">
  <ds:schemaRefs>
    <ds:schemaRef ds:uri="16c05727-aa75-4e4a-9b5f-8a80a1165891"/>
    <ds:schemaRef ds:uri="http://schemas.microsoft.com/office/2006/metadata/properties"/>
    <ds:schemaRef ds:uri="http://www.w3.org/XML/1998/namespace"/>
    <ds:schemaRef ds:uri="http://purl.org/dc/dcmitype/"/>
    <ds:schemaRef ds:uri="http://purl.org/dc/terms/"/>
    <ds:schemaRef ds:uri="http://schemas.microsoft.com/office/2006/documentManagement/types"/>
    <ds:schemaRef ds:uri="71af3243-3dd4-4a8d-8c0d-dd76da1f02a5"/>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Problemsolution cycle </Template>
  <TotalTime>0</TotalTime>
  <Words>2528</Words>
  <Application>Microsoft Office PowerPoint</Application>
  <PresentationFormat>Widescreen</PresentationFormat>
  <Paragraphs>348</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Rockwell</vt:lpstr>
      <vt:lpstr>Tahoma</vt:lpstr>
      <vt:lpstr>Trebuchet MS</vt:lpstr>
      <vt:lpstr>Tw Cen MT</vt:lpstr>
      <vt:lpstr>Circuit</vt:lpstr>
      <vt:lpstr>Angular 16 Training</vt:lpstr>
      <vt:lpstr>What is Angular?</vt:lpstr>
      <vt:lpstr>Angular Application setup</vt:lpstr>
      <vt:lpstr>Angular Application setup</vt:lpstr>
      <vt:lpstr>Angular CLI setup</vt:lpstr>
      <vt:lpstr>Typical Angular Folder Structure</vt:lpstr>
      <vt:lpstr>TypeScript Basics for Angular</vt:lpstr>
      <vt:lpstr>Angular Architecture</vt:lpstr>
      <vt:lpstr>Angular Architecture</vt:lpstr>
      <vt:lpstr>Angular Architecture</vt:lpstr>
      <vt:lpstr>Angular Architecture</vt:lpstr>
      <vt:lpstr>Angular Architecture</vt:lpstr>
      <vt:lpstr>Data Binding</vt:lpstr>
      <vt:lpstr>Data Binding</vt:lpstr>
      <vt:lpstr>Data Binding</vt:lpstr>
      <vt:lpstr>Data Binding</vt:lpstr>
      <vt:lpstr>Summary Table (Data Binding)</vt:lpstr>
      <vt:lpstr>Installing Bootstrap</vt:lpstr>
      <vt:lpstr>Angular Router</vt:lpstr>
      <vt:lpstr>Constructor</vt:lpstr>
      <vt:lpstr>Component Lifecycle</vt:lpstr>
      <vt:lpstr>1. ngOnChanges</vt:lpstr>
      <vt:lpstr>2. ngOnInit</vt:lpstr>
      <vt:lpstr>3. ngDoCheck</vt:lpstr>
      <vt:lpstr>4. ngAfterContentInit</vt:lpstr>
      <vt:lpstr>5. ngAfterContentChecked</vt:lpstr>
      <vt:lpstr>6. ngAfterViewInit</vt:lpstr>
      <vt:lpstr>7. ngAfterViewChecked</vt:lpstr>
      <vt:lpstr>8. ngOnDestroy</vt:lpstr>
      <vt:lpstr>Component Lifecycle Summary</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2025-08-20T12:33:59Z</dcterms:created>
  <dcterms:modified xsi:type="dcterms:W3CDTF">2025-08-21T20:05:58Z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